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8" r:id="rId3"/>
    <p:sldId id="259" r:id="rId4"/>
    <p:sldId id="260" r:id="rId5"/>
    <p:sldId id="262" r:id="rId6"/>
    <p:sldId id="261" r:id="rId7"/>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6366"/>
  </p:normalViewPr>
  <p:slideViewPr>
    <p:cSldViewPr snapToGrid="0" snapToObjects="1">
      <p:cViewPr>
        <p:scale>
          <a:sx n="99" d="100"/>
          <a:sy n="99" d="100"/>
        </p:scale>
        <p:origin x="960" y="4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ABED0-BF57-EB40-9978-D1F922945D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VN"/>
          </a:p>
        </p:txBody>
      </p:sp>
      <p:sp>
        <p:nvSpPr>
          <p:cNvPr id="3" name="Subtitle 2">
            <a:extLst>
              <a:ext uri="{FF2B5EF4-FFF2-40B4-BE49-F238E27FC236}">
                <a16:creationId xmlns:a16="http://schemas.microsoft.com/office/drawing/2014/main" id="{CD850859-A1F3-7B41-AF57-B40603953B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VN"/>
          </a:p>
        </p:txBody>
      </p:sp>
      <p:sp>
        <p:nvSpPr>
          <p:cNvPr id="4" name="Date Placeholder 3">
            <a:extLst>
              <a:ext uri="{FF2B5EF4-FFF2-40B4-BE49-F238E27FC236}">
                <a16:creationId xmlns:a16="http://schemas.microsoft.com/office/drawing/2014/main" id="{5A5F3144-294D-1749-9525-7964864DF620}"/>
              </a:ext>
            </a:extLst>
          </p:cNvPr>
          <p:cNvSpPr>
            <a:spLocks noGrp="1"/>
          </p:cNvSpPr>
          <p:nvPr>
            <p:ph type="dt" sz="half" idx="10"/>
          </p:nvPr>
        </p:nvSpPr>
        <p:spPr/>
        <p:txBody>
          <a:bodyPr/>
          <a:lstStyle/>
          <a:p>
            <a:fld id="{511AA4D2-8B62-CB4B-85B9-A9D43143A3F8}" type="datetimeFigureOut">
              <a:rPr lang="en-VN" smtClean="0"/>
              <a:t>5/10/26</a:t>
            </a:fld>
            <a:endParaRPr lang="en-VN"/>
          </a:p>
        </p:txBody>
      </p:sp>
      <p:sp>
        <p:nvSpPr>
          <p:cNvPr id="5" name="Footer Placeholder 4">
            <a:extLst>
              <a:ext uri="{FF2B5EF4-FFF2-40B4-BE49-F238E27FC236}">
                <a16:creationId xmlns:a16="http://schemas.microsoft.com/office/drawing/2014/main" id="{959D2786-7AF8-3545-AD57-DA40394CEB89}"/>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1C549467-1564-8141-81C7-A1343665A4B9}"/>
              </a:ext>
            </a:extLst>
          </p:cNvPr>
          <p:cNvSpPr>
            <a:spLocks noGrp="1"/>
          </p:cNvSpPr>
          <p:nvPr>
            <p:ph type="sldNum" sz="quarter" idx="12"/>
          </p:nvPr>
        </p:nvSpPr>
        <p:spPr/>
        <p:txBody>
          <a:bodyPr/>
          <a:lstStyle/>
          <a:p>
            <a:fld id="{82FC8AA3-F864-AF4D-BC07-B8F1B5572F59}" type="slidenum">
              <a:rPr lang="en-VN" smtClean="0"/>
              <a:t>‹#›</a:t>
            </a:fld>
            <a:endParaRPr lang="en-VN"/>
          </a:p>
        </p:txBody>
      </p:sp>
    </p:spTree>
    <p:extLst>
      <p:ext uri="{BB962C8B-B14F-4D97-AF65-F5344CB8AC3E}">
        <p14:creationId xmlns:p14="http://schemas.microsoft.com/office/powerpoint/2010/main" val="3180844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0069D-EEAA-6647-A0C3-ADF30C482D3E}"/>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8AED6453-1C91-1140-94F8-58EF8BE406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A15820CF-6F4D-BF45-A551-E86ECD99C6EC}"/>
              </a:ext>
            </a:extLst>
          </p:cNvPr>
          <p:cNvSpPr>
            <a:spLocks noGrp="1"/>
          </p:cNvSpPr>
          <p:nvPr>
            <p:ph type="dt" sz="half" idx="10"/>
          </p:nvPr>
        </p:nvSpPr>
        <p:spPr/>
        <p:txBody>
          <a:bodyPr/>
          <a:lstStyle/>
          <a:p>
            <a:fld id="{511AA4D2-8B62-CB4B-85B9-A9D43143A3F8}" type="datetimeFigureOut">
              <a:rPr lang="en-VN" smtClean="0"/>
              <a:t>5/10/26</a:t>
            </a:fld>
            <a:endParaRPr lang="en-VN"/>
          </a:p>
        </p:txBody>
      </p:sp>
      <p:sp>
        <p:nvSpPr>
          <p:cNvPr id="5" name="Footer Placeholder 4">
            <a:extLst>
              <a:ext uri="{FF2B5EF4-FFF2-40B4-BE49-F238E27FC236}">
                <a16:creationId xmlns:a16="http://schemas.microsoft.com/office/drawing/2014/main" id="{FA37F9AE-A07B-8643-9385-AEAD93A19DC4}"/>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104B1364-0262-A149-88D7-081238BB7719}"/>
              </a:ext>
            </a:extLst>
          </p:cNvPr>
          <p:cNvSpPr>
            <a:spLocks noGrp="1"/>
          </p:cNvSpPr>
          <p:nvPr>
            <p:ph type="sldNum" sz="quarter" idx="12"/>
          </p:nvPr>
        </p:nvSpPr>
        <p:spPr/>
        <p:txBody>
          <a:bodyPr/>
          <a:lstStyle/>
          <a:p>
            <a:fld id="{82FC8AA3-F864-AF4D-BC07-B8F1B5572F59}" type="slidenum">
              <a:rPr lang="en-VN" smtClean="0"/>
              <a:t>‹#›</a:t>
            </a:fld>
            <a:endParaRPr lang="en-VN"/>
          </a:p>
        </p:txBody>
      </p:sp>
    </p:spTree>
    <p:extLst>
      <p:ext uri="{BB962C8B-B14F-4D97-AF65-F5344CB8AC3E}">
        <p14:creationId xmlns:p14="http://schemas.microsoft.com/office/powerpoint/2010/main" val="2420326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88324-3021-3D43-B50B-98FBB73063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VN"/>
          </a:p>
        </p:txBody>
      </p:sp>
      <p:sp>
        <p:nvSpPr>
          <p:cNvPr id="3" name="Text Placeholder 2">
            <a:extLst>
              <a:ext uri="{FF2B5EF4-FFF2-40B4-BE49-F238E27FC236}">
                <a16:creationId xmlns:a16="http://schemas.microsoft.com/office/drawing/2014/main" id="{87BD3A42-0AB6-6E41-BB5D-5EEC6C9FBB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8840DE-C43F-DC44-9206-78AD84C6F7C7}"/>
              </a:ext>
            </a:extLst>
          </p:cNvPr>
          <p:cNvSpPr>
            <a:spLocks noGrp="1"/>
          </p:cNvSpPr>
          <p:nvPr>
            <p:ph type="dt" sz="half" idx="10"/>
          </p:nvPr>
        </p:nvSpPr>
        <p:spPr/>
        <p:txBody>
          <a:bodyPr/>
          <a:lstStyle/>
          <a:p>
            <a:fld id="{511AA4D2-8B62-CB4B-85B9-A9D43143A3F8}" type="datetimeFigureOut">
              <a:rPr lang="en-VN" smtClean="0"/>
              <a:t>5/10/26</a:t>
            </a:fld>
            <a:endParaRPr lang="en-VN"/>
          </a:p>
        </p:txBody>
      </p:sp>
      <p:sp>
        <p:nvSpPr>
          <p:cNvPr id="5" name="Footer Placeholder 4">
            <a:extLst>
              <a:ext uri="{FF2B5EF4-FFF2-40B4-BE49-F238E27FC236}">
                <a16:creationId xmlns:a16="http://schemas.microsoft.com/office/drawing/2014/main" id="{82D04A36-CC80-FB44-9582-5D4A1367768E}"/>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0298A633-D725-9548-90E6-494E4B98E947}"/>
              </a:ext>
            </a:extLst>
          </p:cNvPr>
          <p:cNvSpPr>
            <a:spLocks noGrp="1"/>
          </p:cNvSpPr>
          <p:nvPr>
            <p:ph type="sldNum" sz="quarter" idx="12"/>
          </p:nvPr>
        </p:nvSpPr>
        <p:spPr/>
        <p:txBody>
          <a:bodyPr/>
          <a:lstStyle/>
          <a:p>
            <a:fld id="{82FC8AA3-F864-AF4D-BC07-B8F1B5572F59}" type="slidenum">
              <a:rPr lang="en-VN" smtClean="0"/>
              <a:t>‹#›</a:t>
            </a:fld>
            <a:endParaRPr lang="en-VN"/>
          </a:p>
        </p:txBody>
      </p:sp>
    </p:spTree>
    <p:extLst>
      <p:ext uri="{BB962C8B-B14F-4D97-AF65-F5344CB8AC3E}">
        <p14:creationId xmlns:p14="http://schemas.microsoft.com/office/powerpoint/2010/main" val="930960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5525A-CDA3-DC49-B66A-15A15EE01549}"/>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12BBEEA5-E91D-7249-988A-9B081D1293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Content Placeholder 3">
            <a:extLst>
              <a:ext uri="{FF2B5EF4-FFF2-40B4-BE49-F238E27FC236}">
                <a16:creationId xmlns:a16="http://schemas.microsoft.com/office/drawing/2014/main" id="{47FA8F5F-2E92-FA4F-BE9A-A0568D46A5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Date Placeholder 4">
            <a:extLst>
              <a:ext uri="{FF2B5EF4-FFF2-40B4-BE49-F238E27FC236}">
                <a16:creationId xmlns:a16="http://schemas.microsoft.com/office/drawing/2014/main" id="{1EEC27B3-A1B5-564E-BA39-EA0156A8D07B}"/>
              </a:ext>
            </a:extLst>
          </p:cNvPr>
          <p:cNvSpPr>
            <a:spLocks noGrp="1"/>
          </p:cNvSpPr>
          <p:nvPr>
            <p:ph type="dt" sz="half" idx="10"/>
          </p:nvPr>
        </p:nvSpPr>
        <p:spPr/>
        <p:txBody>
          <a:bodyPr/>
          <a:lstStyle/>
          <a:p>
            <a:fld id="{511AA4D2-8B62-CB4B-85B9-A9D43143A3F8}" type="datetimeFigureOut">
              <a:rPr lang="en-VN" smtClean="0"/>
              <a:t>5/10/26</a:t>
            </a:fld>
            <a:endParaRPr lang="en-VN"/>
          </a:p>
        </p:txBody>
      </p:sp>
      <p:sp>
        <p:nvSpPr>
          <p:cNvPr id="6" name="Footer Placeholder 5">
            <a:extLst>
              <a:ext uri="{FF2B5EF4-FFF2-40B4-BE49-F238E27FC236}">
                <a16:creationId xmlns:a16="http://schemas.microsoft.com/office/drawing/2014/main" id="{960CEE39-E129-2C4F-9EA7-1570D6441726}"/>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70051657-FDA2-124B-91F7-824E27108D6D}"/>
              </a:ext>
            </a:extLst>
          </p:cNvPr>
          <p:cNvSpPr>
            <a:spLocks noGrp="1"/>
          </p:cNvSpPr>
          <p:nvPr>
            <p:ph type="sldNum" sz="quarter" idx="12"/>
          </p:nvPr>
        </p:nvSpPr>
        <p:spPr/>
        <p:txBody>
          <a:bodyPr/>
          <a:lstStyle/>
          <a:p>
            <a:fld id="{82FC8AA3-F864-AF4D-BC07-B8F1B5572F59}" type="slidenum">
              <a:rPr lang="en-VN" smtClean="0"/>
              <a:t>‹#›</a:t>
            </a:fld>
            <a:endParaRPr lang="en-VN"/>
          </a:p>
        </p:txBody>
      </p:sp>
    </p:spTree>
    <p:extLst>
      <p:ext uri="{BB962C8B-B14F-4D97-AF65-F5344CB8AC3E}">
        <p14:creationId xmlns:p14="http://schemas.microsoft.com/office/powerpoint/2010/main" val="332951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90C88-BF37-A447-B9BA-8B997B52AEBA}"/>
              </a:ext>
            </a:extLst>
          </p:cNvPr>
          <p:cNvSpPr>
            <a:spLocks noGrp="1"/>
          </p:cNvSpPr>
          <p:nvPr>
            <p:ph type="title"/>
          </p:nvPr>
        </p:nvSpPr>
        <p:spPr>
          <a:xfrm>
            <a:off x="839788" y="365125"/>
            <a:ext cx="10515600" cy="1325563"/>
          </a:xfrm>
        </p:spPr>
        <p:txBody>
          <a:bodyPr/>
          <a:lstStyle/>
          <a:p>
            <a:r>
              <a:rPr lang="en-US"/>
              <a:t>Click to edit Master title style</a:t>
            </a:r>
            <a:endParaRPr lang="en-VN"/>
          </a:p>
        </p:txBody>
      </p:sp>
      <p:sp>
        <p:nvSpPr>
          <p:cNvPr id="3" name="Text Placeholder 2">
            <a:extLst>
              <a:ext uri="{FF2B5EF4-FFF2-40B4-BE49-F238E27FC236}">
                <a16:creationId xmlns:a16="http://schemas.microsoft.com/office/drawing/2014/main" id="{ADD2CB04-AC7C-954B-BA2B-5B39BF7BC4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FD2FFF-FAB2-F44C-BDC3-1FA48106B6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Text Placeholder 4">
            <a:extLst>
              <a:ext uri="{FF2B5EF4-FFF2-40B4-BE49-F238E27FC236}">
                <a16:creationId xmlns:a16="http://schemas.microsoft.com/office/drawing/2014/main" id="{C8B8D95D-26D7-5A46-948A-C4507811ED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FD880EC-5507-BB4A-BFDA-5DF6E7245D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7" name="Date Placeholder 6">
            <a:extLst>
              <a:ext uri="{FF2B5EF4-FFF2-40B4-BE49-F238E27FC236}">
                <a16:creationId xmlns:a16="http://schemas.microsoft.com/office/drawing/2014/main" id="{0BC48EB9-24CF-CC41-9935-7D7B76385613}"/>
              </a:ext>
            </a:extLst>
          </p:cNvPr>
          <p:cNvSpPr>
            <a:spLocks noGrp="1"/>
          </p:cNvSpPr>
          <p:nvPr>
            <p:ph type="dt" sz="half" idx="10"/>
          </p:nvPr>
        </p:nvSpPr>
        <p:spPr/>
        <p:txBody>
          <a:bodyPr/>
          <a:lstStyle/>
          <a:p>
            <a:fld id="{511AA4D2-8B62-CB4B-85B9-A9D43143A3F8}" type="datetimeFigureOut">
              <a:rPr lang="en-VN" smtClean="0"/>
              <a:t>5/10/26</a:t>
            </a:fld>
            <a:endParaRPr lang="en-VN"/>
          </a:p>
        </p:txBody>
      </p:sp>
      <p:sp>
        <p:nvSpPr>
          <p:cNvPr id="8" name="Footer Placeholder 7">
            <a:extLst>
              <a:ext uri="{FF2B5EF4-FFF2-40B4-BE49-F238E27FC236}">
                <a16:creationId xmlns:a16="http://schemas.microsoft.com/office/drawing/2014/main" id="{AFCD07DF-E1BA-7847-BAD4-E9EE248F2D7B}"/>
              </a:ext>
            </a:extLst>
          </p:cNvPr>
          <p:cNvSpPr>
            <a:spLocks noGrp="1"/>
          </p:cNvSpPr>
          <p:nvPr>
            <p:ph type="ftr" sz="quarter" idx="11"/>
          </p:nvPr>
        </p:nvSpPr>
        <p:spPr/>
        <p:txBody>
          <a:bodyPr/>
          <a:lstStyle/>
          <a:p>
            <a:endParaRPr lang="en-VN"/>
          </a:p>
        </p:txBody>
      </p:sp>
      <p:sp>
        <p:nvSpPr>
          <p:cNvPr id="9" name="Slide Number Placeholder 8">
            <a:extLst>
              <a:ext uri="{FF2B5EF4-FFF2-40B4-BE49-F238E27FC236}">
                <a16:creationId xmlns:a16="http://schemas.microsoft.com/office/drawing/2014/main" id="{EDF54FD6-2067-0C4B-B485-E752C6EA7246}"/>
              </a:ext>
            </a:extLst>
          </p:cNvPr>
          <p:cNvSpPr>
            <a:spLocks noGrp="1"/>
          </p:cNvSpPr>
          <p:nvPr>
            <p:ph type="sldNum" sz="quarter" idx="12"/>
          </p:nvPr>
        </p:nvSpPr>
        <p:spPr/>
        <p:txBody>
          <a:bodyPr/>
          <a:lstStyle/>
          <a:p>
            <a:fld id="{82FC8AA3-F864-AF4D-BC07-B8F1B5572F59}" type="slidenum">
              <a:rPr lang="en-VN" smtClean="0"/>
              <a:t>‹#›</a:t>
            </a:fld>
            <a:endParaRPr lang="en-VN"/>
          </a:p>
        </p:txBody>
      </p:sp>
    </p:spTree>
    <p:extLst>
      <p:ext uri="{BB962C8B-B14F-4D97-AF65-F5344CB8AC3E}">
        <p14:creationId xmlns:p14="http://schemas.microsoft.com/office/powerpoint/2010/main" val="3865698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B8ADB-3527-4B4D-88C7-042D5AA8C724}"/>
              </a:ext>
            </a:extLst>
          </p:cNvPr>
          <p:cNvSpPr>
            <a:spLocks noGrp="1"/>
          </p:cNvSpPr>
          <p:nvPr>
            <p:ph type="title"/>
          </p:nvPr>
        </p:nvSpPr>
        <p:spPr/>
        <p:txBody>
          <a:bodyPr/>
          <a:lstStyle/>
          <a:p>
            <a:r>
              <a:rPr lang="en-US"/>
              <a:t>Click to edit Master title style</a:t>
            </a:r>
            <a:endParaRPr lang="en-VN"/>
          </a:p>
        </p:txBody>
      </p:sp>
      <p:sp>
        <p:nvSpPr>
          <p:cNvPr id="3" name="Date Placeholder 2">
            <a:extLst>
              <a:ext uri="{FF2B5EF4-FFF2-40B4-BE49-F238E27FC236}">
                <a16:creationId xmlns:a16="http://schemas.microsoft.com/office/drawing/2014/main" id="{4279DBED-B072-3C40-A893-CE0D9004500D}"/>
              </a:ext>
            </a:extLst>
          </p:cNvPr>
          <p:cNvSpPr>
            <a:spLocks noGrp="1"/>
          </p:cNvSpPr>
          <p:nvPr>
            <p:ph type="dt" sz="half" idx="10"/>
          </p:nvPr>
        </p:nvSpPr>
        <p:spPr/>
        <p:txBody>
          <a:bodyPr/>
          <a:lstStyle/>
          <a:p>
            <a:fld id="{511AA4D2-8B62-CB4B-85B9-A9D43143A3F8}" type="datetimeFigureOut">
              <a:rPr lang="en-VN" smtClean="0"/>
              <a:t>5/10/26</a:t>
            </a:fld>
            <a:endParaRPr lang="en-VN"/>
          </a:p>
        </p:txBody>
      </p:sp>
      <p:sp>
        <p:nvSpPr>
          <p:cNvPr id="4" name="Footer Placeholder 3">
            <a:extLst>
              <a:ext uri="{FF2B5EF4-FFF2-40B4-BE49-F238E27FC236}">
                <a16:creationId xmlns:a16="http://schemas.microsoft.com/office/drawing/2014/main" id="{E0196EF6-4B23-8A47-A13E-125424570D2C}"/>
              </a:ext>
            </a:extLst>
          </p:cNvPr>
          <p:cNvSpPr>
            <a:spLocks noGrp="1"/>
          </p:cNvSpPr>
          <p:nvPr>
            <p:ph type="ftr" sz="quarter" idx="11"/>
          </p:nvPr>
        </p:nvSpPr>
        <p:spPr/>
        <p:txBody>
          <a:bodyPr/>
          <a:lstStyle/>
          <a:p>
            <a:endParaRPr lang="en-VN"/>
          </a:p>
        </p:txBody>
      </p:sp>
      <p:sp>
        <p:nvSpPr>
          <p:cNvPr id="5" name="Slide Number Placeholder 4">
            <a:extLst>
              <a:ext uri="{FF2B5EF4-FFF2-40B4-BE49-F238E27FC236}">
                <a16:creationId xmlns:a16="http://schemas.microsoft.com/office/drawing/2014/main" id="{98710D60-1294-F14F-B723-8D958268C5B1}"/>
              </a:ext>
            </a:extLst>
          </p:cNvPr>
          <p:cNvSpPr>
            <a:spLocks noGrp="1"/>
          </p:cNvSpPr>
          <p:nvPr>
            <p:ph type="sldNum" sz="quarter" idx="12"/>
          </p:nvPr>
        </p:nvSpPr>
        <p:spPr/>
        <p:txBody>
          <a:bodyPr/>
          <a:lstStyle/>
          <a:p>
            <a:fld id="{82FC8AA3-F864-AF4D-BC07-B8F1B5572F59}" type="slidenum">
              <a:rPr lang="en-VN" smtClean="0"/>
              <a:t>‹#›</a:t>
            </a:fld>
            <a:endParaRPr lang="en-VN"/>
          </a:p>
        </p:txBody>
      </p:sp>
    </p:spTree>
    <p:extLst>
      <p:ext uri="{BB962C8B-B14F-4D97-AF65-F5344CB8AC3E}">
        <p14:creationId xmlns:p14="http://schemas.microsoft.com/office/powerpoint/2010/main" val="482596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30BEBF-2613-2F47-BD30-F9B1CD88EEDA}"/>
              </a:ext>
            </a:extLst>
          </p:cNvPr>
          <p:cNvSpPr>
            <a:spLocks noGrp="1"/>
          </p:cNvSpPr>
          <p:nvPr>
            <p:ph type="dt" sz="half" idx="10"/>
          </p:nvPr>
        </p:nvSpPr>
        <p:spPr/>
        <p:txBody>
          <a:bodyPr/>
          <a:lstStyle/>
          <a:p>
            <a:fld id="{511AA4D2-8B62-CB4B-85B9-A9D43143A3F8}" type="datetimeFigureOut">
              <a:rPr lang="en-VN" smtClean="0"/>
              <a:t>5/10/26</a:t>
            </a:fld>
            <a:endParaRPr lang="en-VN"/>
          </a:p>
        </p:txBody>
      </p:sp>
      <p:sp>
        <p:nvSpPr>
          <p:cNvPr id="3" name="Footer Placeholder 2">
            <a:extLst>
              <a:ext uri="{FF2B5EF4-FFF2-40B4-BE49-F238E27FC236}">
                <a16:creationId xmlns:a16="http://schemas.microsoft.com/office/drawing/2014/main" id="{94806BD5-083F-E442-A10F-F93DDC2FB224}"/>
              </a:ext>
            </a:extLst>
          </p:cNvPr>
          <p:cNvSpPr>
            <a:spLocks noGrp="1"/>
          </p:cNvSpPr>
          <p:nvPr>
            <p:ph type="ftr" sz="quarter" idx="11"/>
          </p:nvPr>
        </p:nvSpPr>
        <p:spPr/>
        <p:txBody>
          <a:bodyPr/>
          <a:lstStyle/>
          <a:p>
            <a:endParaRPr lang="en-VN"/>
          </a:p>
        </p:txBody>
      </p:sp>
      <p:sp>
        <p:nvSpPr>
          <p:cNvPr id="4" name="Slide Number Placeholder 3">
            <a:extLst>
              <a:ext uri="{FF2B5EF4-FFF2-40B4-BE49-F238E27FC236}">
                <a16:creationId xmlns:a16="http://schemas.microsoft.com/office/drawing/2014/main" id="{11E353A3-6548-7044-9C4B-1AF3EC20A38C}"/>
              </a:ext>
            </a:extLst>
          </p:cNvPr>
          <p:cNvSpPr>
            <a:spLocks noGrp="1"/>
          </p:cNvSpPr>
          <p:nvPr>
            <p:ph type="sldNum" sz="quarter" idx="12"/>
          </p:nvPr>
        </p:nvSpPr>
        <p:spPr/>
        <p:txBody>
          <a:bodyPr/>
          <a:lstStyle/>
          <a:p>
            <a:fld id="{82FC8AA3-F864-AF4D-BC07-B8F1B5572F59}" type="slidenum">
              <a:rPr lang="en-VN" smtClean="0"/>
              <a:t>‹#›</a:t>
            </a:fld>
            <a:endParaRPr lang="en-VN"/>
          </a:p>
        </p:txBody>
      </p:sp>
    </p:spTree>
    <p:extLst>
      <p:ext uri="{BB962C8B-B14F-4D97-AF65-F5344CB8AC3E}">
        <p14:creationId xmlns:p14="http://schemas.microsoft.com/office/powerpoint/2010/main" val="1457837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EFFA2-7167-B342-AFF2-3EDD199AB5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Content Placeholder 2">
            <a:extLst>
              <a:ext uri="{FF2B5EF4-FFF2-40B4-BE49-F238E27FC236}">
                <a16:creationId xmlns:a16="http://schemas.microsoft.com/office/drawing/2014/main" id="{132F1387-6AE0-2F4B-925B-EE7B8F4992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Text Placeholder 3">
            <a:extLst>
              <a:ext uri="{FF2B5EF4-FFF2-40B4-BE49-F238E27FC236}">
                <a16:creationId xmlns:a16="http://schemas.microsoft.com/office/drawing/2014/main" id="{D3FDD09E-602B-084A-840C-F18E8A52D1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152429-5FB8-0544-8140-E9E447722AC1}"/>
              </a:ext>
            </a:extLst>
          </p:cNvPr>
          <p:cNvSpPr>
            <a:spLocks noGrp="1"/>
          </p:cNvSpPr>
          <p:nvPr>
            <p:ph type="dt" sz="half" idx="10"/>
          </p:nvPr>
        </p:nvSpPr>
        <p:spPr/>
        <p:txBody>
          <a:bodyPr/>
          <a:lstStyle/>
          <a:p>
            <a:fld id="{511AA4D2-8B62-CB4B-85B9-A9D43143A3F8}" type="datetimeFigureOut">
              <a:rPr lang="en-VN" smtClean="0"/>
              <a:t>5/10/26</a:t>
            </a:fld>
            <a:endParaRPr lang="en-VN"/>
          </a:p>
        </p:txBody>
      </p:sp>
      <p:sp>
        <p:nvSpPr>
          <p:cNvPr id="6" name="Footer Placeholder 5">
            <a:extLst>
              <a:ext uri="{FF2B5EF4-FFF2-40B4-BE49-F238E27FC236}">
                <a16:creationId xmlns:a16="http://schemas.microsoft.com/office/drawing/2014/main" id="{116A49A3-9053-B94F-BFB0-763C19609EC4}"/>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9E63B0A0-C5BF-8642-A7FB-44CA2EB541D0}"/>
              </a:ext>
            </a:extLst>
          </p:cNvPr>
          <p:cNvSpPr>
            <a:spLocks noGrp="1"/>
          </p:cNvSpPr>
          <p:nvPr>
            <p:ph type="sldNum" sz="quarter" idx="12"/>
          </p:nvPr>
        </p:nvSpPr>
        <p:spPr/>
        <p:txBody>
          <a:bodyPr/>
          <a:lstStyle/>
          <a:p>
            <a:fld id="{82FC8AA3-F864-AF4D-BC07-B8F1B5572F59}" type="slidenum">
              <a:rPr lang="en-VN" smtClean="0"/>
              <a:t>‹#›</a:t>
            </a:fld>
            <a:endParaRPr lang="en-VN"/>
          </a:p>
        </p:txBody>
      </p:sp>
    </p:spTree>
    <p:extLst>
      <p:ext uri="{BB962C8B-B14F-4D97-AF65-F5344CB8AC3E}">
        <p14:creationId xmlns:p14="http://schemas.microsoft.com/office/powerpoint/2010/main" val="1351333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4B003-2DAF-514A-9488-52D25A4452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Picture Placeholder 2">
            <a:extLst>
              <a:ext uri="{FF2B5EF4-FFF2-40B4-BE49-F238E27FC236}">
                <a16:creationId xmlns:a16="http://schemas.microsoft.com/office/drawing/2014/main" id="{295402F3-ECB5-4D4C-B51F-30D9EF95F3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VN"/>
          </a:p>
        </p:txBody>
      </p:sp>
      <p:sp>
        <p:nvSpPr>
          <p:cNvPr id="4" name="Text Placeholder 3">
            <a:extLst>
              <a:ext uri="{FF2B5EF4-FFF2-40B4-BE49-F238E27FC236}">
                <a16:creationId xmlns:a16="http://schemas.microsoft.com/office/drawing/2014/main" id="{65DB3A35-E51C-1544-BC96-A095C98629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88FCC0-B14B-5F4C-83B9-D8DCAF7A075A}"/>
              </a:ext>
            </a:extLst>
          </p:cNvPr>
          <p:cNvSpPr>
            <a:spLocks noGrp="1"/>
          </p:cNvSpPr>
          <p:nvPr>
            <p:ph type="dt" sz="half" idx="10"/>
          </p:nvPr>
        </p:nvSpPr>
        <p:spPr/>
        <p:txBody>
          <a:bodyPr/>
          <a:lstStyle/>
          <a:p>
            <a:fld id="{511AA4D2-8B62-CB4B-85B9-A9D43143A3F8}" type="datetimeFigureOut">
              <a:rPr lang="en-VN" smtClean="0"/>
              <a:t>5/10/26</a:t>
            </a:fld>
            <a:endParaRPr lang="en-VN"/>
          </a:p>
        </p:txBody>
      </p:sp>
      <p:sp>
        <p:nvSpPr>
          <p:cNvPr id="6" name="Footer Placeholder 5">
            <a:extLst>
              <a:ext uri="{FF2B5EF4-FFF2-40B4-BE49-F238E27FC236}">
                <a16:creationId xmlns:a16="http://schemas.microsoft.com/office/drawing/2014/main" id="{369B75AF-D337-4541-9A0A-67D25FA6F2A3}"/>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77C8FEA8-9C24-134B-9E40-233EC3D698F9}"/>
              </a:ext>
            </a:extLst>
          </p:cNvPr>
          <p:cNvSpPr>
            <a:spLocks noGrp="1"/>
          </p:cNvSpPr>
          <p:nvPr>
            <p:ph type="sldNum" sz="quarter" idx="12"/>
          </p:nvPr>
        </p:nvSpPr>
        <p:spPr/>
        <p:txBody>
          <a:bodyPr/>
          <a:lstStyle/>
          <a:p>
            <a:fld id="{82FC8AA3-F864-AF4D-BC07-B8F1B5572F59}" type="slidenum">
              <a:rPr lang="en-VN" smtClean="0"/>
              <a:t>‹#›</a:t>
            </a:fld>
            <a:endParaRPr lang="en-VN"/>
          </a:p>
        </p:txBody>
      </p:sp>
    </p:spTree>
    <p:extLst>
      <p:ext uri="{BB962C8B-B14F-4D97-AF65-F5344CB8AC3E}">
        <p14:creationId xmlns:p14="http://schemas.microsoft.com/office/powerpoint/2010/main" val="14289266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C5C69-61E9-0849-BA12-5AE5B64BC6A3}"/>
              </a:ext>
            </a:extLst>
          </p:cNvPr>
          <p:cNvSpPr>
            <a:spLocks noGrp="1"/>
          </p:cNvSpPr>
          <p:nvPr>
            <p:ph type="title"/>
          </p:nvPr>
        </p:nvSpPr>
        <p:spPr/>
        <p:txBody>
          <a:bodyPr/>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849EF50C-6703-1544-A8D8-29B92447A8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D8BE0C34-9CE3-E047-B01B-777F541A13D9}"/>
              </a:ext>
            </a:extLst>
          </p:cNvPr>
          <p:cNvSpPr>
            <a:spLocks noGrp="1"/>
          </p:cNvSpPr>
          <p:nvPr>
            <p:ph type="dt" sz="half" idx="10"/>
          </p:nvPr>
        </p:nvSpPr>
        <p:spPr/>
        <p:txBody>
          <a:bodyPr/>
          <a:lstStyle/>
          <a:p>
            <a:fld id="{511AA4D2-8B62-CB4B-85B9-A9D43143A3F8}" type="datetimeFigureOut">
              <a:rPr lang="en-VN" smtClean="0"/>
              <a:t>5/10/26</a:t>
            </a:fld>
            <a:endParaRPr lang="en-VN"/>
          </a:p>
        </p:txBody>
      </p:sp>
      <p:sp>
        <p:nvSpPr>
          <p:cNvPr id="5" name="Footer Placeholder 4">
            <a:extLst>
              <a:ext uri="{FF2B5EF4-FFF2-40B4-BE49-F238E27FC236}">
                <a16:creationId xmlns:a16="http://schemas.microsoft.com/office/drawing/2014/main" id="{0562648F-DA55-CC4C-9C72-4312FD2D67A8}"/>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92CA4294-4387-FD43-844E-BC6290311A87}"/>
              </a:ext>
            </a:extLst>
          </p:cNvPr>
          <p:cNvSpPr>
            <a:spLocks noGrp="1"/>
          </p:cNvSpPr>
          <p:nvPr>
            <p:ph type="sldNum" sz="quarter" idx="12"/>
          </p:nvPr>
        </p:nvSpPr>
        <p:spPr/>
        <p:txBody>
          <a:bodyPr/>
          <a:lstStyle/>
          <a:p>
            <a:fld id="{82FC8AA3-F864-AF4D-BC07-B8F1B5572F59}" type="slidenum">
              <a:rPr lang="en-VN" smtClean="0"/>
              <a:t>‹#›</a:t>
            </a:fld>
            <a:endParaRPr lang="en-VN"/>
          </a:p>
        </p:txBody>
      </p:sp>
    </p:spTree>
    <p:extLst>
      <p:ext uri="{BB962C8B-B14F-4D97-AF65-F5344CB8AC3E}">
        <p14:creationId xmlns:p14="http://schemas.microsoft.com/office/powerpoint/2010/main" val="581522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359C02-F54C-A947-A38C-2C57D4F8AE1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FCAF150A-FCA0-9943-B9E7-15A52D9ACD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E797917D-004B-574C-8F64-716F2D48F9B5}"/>
              </a:ext>
            </a:extLst>
          </p:cNvPr>
          <p:cNvSpPr>
            <a:spLocks noGrp="1"/>
          </p:cNvSpPr>
          <p:nvPr>
            <p:ph type="dt" sz="half" idx="10"/>
          </p:nvPr>
        </p:nvSpPr>
        <p:spPr/>
        <p:txBody>
          <a:bodyPr/>
          <a:lstStyle/>
          <a:p>
            <a:fld id="{511AA4D2-8B62-CB4B-85B9-A9D43143A3F8}" type="datetimeFigureOut">
              <a:rPr lang="en-VN" smtClean="0"/>
              <a:t>5/10/26</a:t>
            </a:fld>
            <a:endParaRPr lang="en-VN"/>
          </a:p>
        </p:txBody>
      </p:sp>
      <p:sp>
        <p:nvSpPr>
          <p:cNvPr id="5" name="Footer Placeholder 4">
            <a:extLst>
              <a:ext uri="{FF2B5EF4-FFF2-40B4-BE49-F238E27FC236}">
                <a16:creationId xmlns:a16="http://schemas.microsoft.com/office/drawing/2014/main" id="{4CC11E10-E19E-4845-8725-12C4BE24D980}"/>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05C4296B-C7A4-534F-87D9-1C82030260AE}"/>
              </a:ext>
            </a:extLst>
          </p:cNvPr>
          <p:cNvSpPr>
            <a:spLocks noGrp="1"/>
          </p:cNvSpPr>
          <p:nvPr>
            <p:ph type="sldNum" sz="quarter" idx="12"/>
          </p:nvPr>
        </p:nvSpPr>
        <p:spPr/>
        <p:txBody>
          <a:bodyPr/>
          <a:lstStyle/>
          <a:p>
            <a:fld id="{82FC8AA3-F864-AF4D-BC07-B8F1B5572F59}" type="slidenum">
              <a:rPr lang="en-VN" smtClean="0"/>
              <a:t>‹#›</a:t>
            </a:fld>
            <a:endParaRPr lang="en-VN"/>
          </a:p>
        </p:txBody>
      </p:sp>
    </p:spTree>
    <p:extLst>
      <p:ext uri="{BB962C8B-B14F-4D97-AF65-F5344CB8AC3E}">
        <p14:creationId xmlns:p14="http://schemas.microsoft.com/office/powerpoint/2010/main" val="2981800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43DA6E-271F-6F44-AA7A-FFB81734F6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VN"/>
          </a:p>
        </p:txBody>
      </p:sp>
      <p:sp>
        <p:nvSpPr>
          <p:cNvPr id="3" name="Text Placeholder 2">
            <a:extLst>
              <a:ext uri="{FF2B5EF4-FFF2-40B4-BE49-F238E27FC236}">
                <a16:creationId xmlns:a16="http://schemas.microsoft.com/office/drawing/2014/main" id="{712E9316-A94A-8B4E-A8E9-290CB5D1F5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428F72BC-6292-3044-8901-F83724CAC6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1AA4D2-8B62-CB4B-85B9-A9D43143A3F8}" type="datetimeFigureOut">
              <a:rPr lang="en-VN" smtClean="0"/>
              <a:t>5/10/26</a:t>
            </a:fld>
            <a:endParaRPr lang="en-VN"/>
          </a:p>
        </p:txBody>
      </p:sp>
      <p:sp>
        <p:nvSpPr>
          <p:cNvPr id="5" name="Footer Placeholder 4">
            <a:extLst>
              <a:ext uri="{FF2B5EF4-FFF2-40B4-BE49-F238E27FC236}">
                <a16:creationId xmlns:a16="http://schemas.microsoft.com/office/drawing/2014/main" id="{A7F97A92-B6E0-9344-951E-C6359AC3A2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VN"/>
          </a:p>
        </p:txBody>
      </p:sp>
      <p:sp>
        <p:nvSpPr>
          <p:cNvPr id="6" name="Slide Number Placeholder 5">
            <a:extLst>
              <a:ext uri="{FF2B5EF4-FFF2-40B4-BE49-F238E27FC236}">
                <a16:creationId xmlns:a16="http://schemas.microsoft.com/office/drawing/2014/main" id="{3608E8C8-5CB0-6647-856C-C36485656F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FC8AA3-F864-AF4D-BC07-B8F1B5572F59}" type="slidenum">
              <a:rPr lang="en-VN" smtClean="0"/>
              <a:t>‹#›</a:t>
            </a:fld>
            <a:endParaRPr lang="en-VN"/>
          </a:p>
        </p:txBody>
      </p:sp>
    </p:spTree>
    <p:extLst>
      <p:ext uri="{BB962C8B-B14F-4D97-AF65-F5344CB8AC3E}">
        <p14:creationId xmlns:p14="http://schemas.microsoft.com/office/powerpoint/2010/main" val="20057425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2C02E-1EE5-6D4D-9BD1-A5B3A2FDDCBE}"/>
              </a:ext>
            </a:extLst>
          </p:cNvPr>
          <p:cNvSpPr>
            <a:spLocks noGrp="1"/>
          </p:cNvSpPr>
          <p:nvPr>
            <p:ph type="title"/>
          </p:nvPr>
        </p:nvSpPr>
        <p:spPr>
          <a:xfrm>
            <a:off x="1034005" y="290653"/>
            <a:ext cx="10319795" cy="415404"/>
          </a:xfrm>
        </p:spPr>
        <p:txBody>
          <a:bodyPr>
            <a:normAutofit fontScale="90000"/>
          </a:bodyPr>
          <a:lstStyle/>
          <a:p>
            <a:pPr algn="ctr"/>
            <a:r>
              <a:rPr lang="en-VN" sz="3200" dirty="0"/>
              <a:t>Polar vortices on directly-imaged letters</a:t>
            </a:r>
          </a:p>
        </p:txBody>
      </p:sp>
      <p:sp>
        <p:nvSpPr>
          <p:cNvPr id="5" name="Content Placeholder 4">
            <a:extLst>
              <a:ext uri="{FF2B5EF4-FFF2-40B4-BE49-F238E27FC236}">
                <a16:creationId xmlns:a16="http://schemas.microsoft.com/office/drawing/2014/main" id="{38B39676-34D8-0D43-B9CF-1F7FBD547D3C}"/>
              </a:ext>
            </a:extLst>
          </p:cNvPr>
          <p:cNvSpPr>
            <a:spLocks noGrp="1"/>
          </p:cNvSpPr>
          <p:nvPr>
            <p:ph idx="1"/>
          </p:nvPr>
        </p:nvSpPr>
        <p:spPr>
          <a:xfrm>
            <a:off x="1219682" y="1242993"/>
            <a:ext cx="9752635" cy="5324355"/>
          </a:xfrm>
        </p:spPr>
        <p:txBody>
          <a:bodyPr>
            <a:normAutofit/>
          </a:bodyPr>
          <a:lstStyle/>
          <a:p>
            <a:pPr marL="0" indent="0">
              <a:buNone/>
            </a:pPr>
            <a:r>
              <a:rPr lang="en-US" sz="1800" b="1" dirty="0"/>
              <a:t>The polar vortex hypothesis predicts the polar regions of brown dwarfs and directly-imaged planets; like Jupiter; are vortex-dominated.</a:t>
            </a:r>
            <a:r>
              <a:rPr lang="en-US" sz="1800" dirty="0"/>
              <a:t> Spectrophotometric simulation from </a:t>
            </a:r>
            <a:r>
              <a:rPr lang="en-US" sz="1800" dirty="0" err="1"/>
              <a:t>maymo</a:t>
            </a:r>
            <a:r>
              <a:rPr lang="en-US" sz="1800" dirty="0"/>
              <a:t> showing that the pole-on inclinations reproduce very low variability due to lacking of zonal bands rotating in and out of view at inclination </a:t>
            </a:r>
            <a:r>
              <a:rPr lang="en-US" sz="1800" dirty="0" err="1"/>
              <a:t>i</a:t>
            </a:r>
            <a:r>
              <a:rPr lang="en-US" sz="1800" dirty="0"/>
              <a:t>=20. Polar vortex changing slowly creates light curve variability as well over longer timescale. </a:t>
            </a:r>
          </a:p>
          <a:p>
            <a:pPr marL="0" indent="0">
              <a:buNone/>
            </a:pPr>
            <a:endParaRPr lang="en-US" sz="1800" dirty="0"/>
          </a:p>
          <a:p>
            <a:r>
              <a:rPr lang="en-US" sz="1800" b="1" dirty="0"/>
              <a:t>Approach the framing from HR 8799</a:t>
            </a:r>
            <a:r>
              <a:rPr lang="en-US" sz="1800" dirty="0"/>
              <a:t>. Campaigns in the past detected no variability, putting upper limits at 10% over 8 hours. </a:t>
            </a:r>
          </a:p>
          <a:p>
            <a:r>
              <a:rPr lang="en-US" sz="1800" b="1" dirty="0" err="1"/>
              <a:t>maymo</a:t>
            </a:r>
            <a:r>
              <a:rPr lang="en-US" sz="1800" b="1" dirty="0"/>
              <a:t> forward-models the presumed </a:t>
            </a:r>
            <a:r>
              <a:rPr lang="en-US" sz="1800" b="1" i="1" dirty="0"/>
              <a:t>consequences</a:t>
            </a:r>
            <a:r>
              <a:rPr lang="en-US" sz="1800" b="1" dirty="0"/>
              <a:t> of a prescribed vortex structure </a:t>
            </a:r>
            <a:r>
              <a:rPr lang="en-US" sz="1800" dirty="0"/>
              <a:t>on HR 8799.</a:t>
            </a:r>
          </a:p>
          <a:p>
            <a:r>
              <a:rPr lang="en-US" sz="1800" b="1" dirty="0"/>
              <a:t>Forward fit either the available spectra from HR8799 b/c/d using </a:t>
            </a:r>
            <a:r>
              <a:rPr lang="en-US" sz="1800" b="1" dirty="0" err="1"/>
              <a:t>PICASO+virga</a:t>
            </a:r>
            <a:r>
              <a:rPr lang="en-US" sz="1800" dirty="0"/>
              <a:t>, then using that spectra and vary clouds properties over the expected vertical pressure extent </a:t>
            </a:r>
            <a:r>
              <a:rPr lang="en-US" sz="1800" dirty="0" err="1"/>
              <a:t>approriate</a:t>
            </a:r>
            <a:r>
              <a:rPr lang="en-US" sz="1800" dirty="0"/>
              <a:t> to polar vortex clouds. </a:t>
            </a:r>
          </a:p>
          <a:p>
            <a:r>
              <a:rPr lang="en-US" sz="1800" b="1" dirty="0">
                <a:solidFill>
                  <a:srgbClr val="FF0000"/>
                </a:solidFill>
              </a:rPr>
              <a:t>Explore 2 polar vortices scenarios</a:t>
            </a:r>
            <a:r>
              <a:rPr lang="en-US" sz="1800" dirty="0">
                <a:solidFill>
                  <a:srgbClr val="FF0000"/>
                </a:solidFill>
              </a:rPr>
              <a:t>: many small vortices changing individually (like Jupiter), or one large region changing (like Saturn). Expected variability over assumed timescale </a:t>
            </a:r>
            <a:r>
              <a:rPr lang="en-US" sz="1800" b="1" dirty="0">
                <a:solidFill>
                  <a:srgbClr val="FF0000"/>
                </a:solidFill>
              </a:rPr>
              <a:t>as a function of two morphologies types.</a:t>
            </a:r>
            <a:endParaRPr lang="en-US" sz="1800" dirty="0">
              <a:solidFill>
                <a:srgbClr val="FF0000"/>
              </a:solidFill>
            </a:endParaRPr>
          </a:p>
          <a:p>
            <a:pPr marL="0" indent="0">
              <a:buNone/>
            </a:pPr>
            <a:endParaRPr lang="en-US" sz="1800" dirty="0"/>
          </a:p>
          <a:p>
            <a:pPr marL="0" indent="0">
              <a:buNone/>
            </a:pPr>
            <a:endParaRPr lang="en-US" sz="1800" b="1" dirty="0"/>
          </a:p>
          <a:p>
            <a:pPr marL="0" indent="0">
              <a:buNone/>
            </a:pPr>
            <a:endParaRPr lang="en-VN" sz="1800" dirty="0"/>
          </a:p>
        </p:txBody>
      </p:sp>
    </p:spTree>
    <p:extLst>
      <p:ext uri="{BB962C8B-B14F-4D97-AF65-F5344CB8AC3E}">
        <p14:creationId xmlns:p14="http://schemas.microsoft.com/office/powerpoint/2010/main" val="1621767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91F6636-774D-BF4D-A82B-081967EA9309}"/>
              </a:ext>
            </a:extLst>
          </p:cNvPr>
          <p:cNvSpPr>
            <a:spLocks noGrp="1"/>
          </p:cNvSpPr>
          <p:nvPr>
            <p:ph type="title"/>
          </p:nvPr>
        </p:nvSpPr>
        <p:spPr>
          <a:xfrm>
            <a:off x="1034005" y="290653"/>
            <a:ext cx="10319795" cy="415404"/>
          </a:xfrm>
        </p:spPr>
        <p:txBody>
          <a:bodyPr>
            <a:normAutofit fontScale="90000"/>
          </a:bodyPr>
          <a:lstStyle/>
          <a:p>
            <a:pPr algn="ctr"/>
            <a:r>
              <a:rPr lang="en-VN" sz="3200" dirty="0"/>
              <a:t>Long-timescale variability behaviors? </a:t>
            </a:r>
          </a:p>
        </p:txBody>
      </p:sp>
      <p:sp>
        <p:nvSpPr>
          <p:cNvPr id="15" name="TextBox 14">
            <a:extLst>
              <a:ext uri="{FF2B5EF4-FFF2-40B4-BE49-F238E27FC236}">
                <a16:creationId xmlns:a16="http://schemas.microsoft.com/office/drawing/2014/main" id="{B8ED6717-1224-8B47-8726-93F8DD99724D}"/>
              </a:ext>
            </a:extLst>
          </p:cNvPr>
          <p:cNvSpPr txBox="1"/>
          <p:nvPr/>
        </p:nvSpPr>
        <p:spPr>
          <a:xfrm>
            <a:off x="2380526" y="5190848"/>
            <a:ext cx="1851949" cy="338554"/>
          </a:xfrm>
          <a:prstGeom prst="rect">
            <a:avLst/>
          </a:prstGeom>
          <a:noFill/>
        </p:spPr>
        <p:txBody>
          <a:bodyPr wrap="square" rtlCol="0">
            <a:spAutoFit/>
          </a:bodyPr>
          <a:lstStyle/>
          <a:p>
            <a:r>
              <a:rPr lang="en-US" sz="1600" b="1" dirty="0">
                <a:solidFill>
                  <a:srgbClr val="0070C0"/>
                </a:solidFill>
              </a:rPr>
              <a:t>more stochastic</a:t>
            </a:r>
            <a:endParaRPr lang="en-VN" sz="1600" b="1" dirty="0">
              <a:solidFill>
                <a:srgbClr val="0070C0"/>
              </a:solidFill>
            </a:endParaRPr>
          </a:p>
        </p:txBody>
      </p:sp>
      <p:grpSp>
        <p:nvGrpSpPr>
          <p:cNvPr id="18" name="Group 17">
            <a:extLst>
              <a:ext uri="{FF2B5EF4-FFF2-40B4-BE49-F238E27FC236}">
                <a16:creationId xmlns:a16="http://schemas.microsoft.com/office/drawing/2014/main" id="{B58E0988-14D8-2C4C-9B34-7DEAF2F7FD46}"/>
              </a:ext>
            </a:extLst>
          </p:cNvPr>
          <p:cNvGrpSpPr/>
          <p:nvPr/>
        </p:nvGrpSpPr>
        <p:grpSpPr>
          <a:xfrm>
            <a:off x="127322" y="3163816"/>
            <a:ext cx="8349204" cy="3694184"/>
            <a:chOff x="127322" y="3163816"/>
            <a:chExt cx="8349204" cy="3694184"/>
          </a:xfrm>
        </p:grpSpPr>
        <p:grpSp>
          <p:nvGrpSpPr>
            <p:cNvPr id="13" name="Group 12">
              <a:extLst>
                <a:ext uri="{FF2B5EF4-FFF2-40B4-BE49-F238E27FC236}">
                  <a16:creationId xmlns:a16="http://schemas.microsoft.com/office/drawing/2014/main" id="{9F393634-12F8-8949-9DC5-1C9731F28312}"/>
                </a:ext>
              </a:extLst>
            </p:cNvPr>
            <p:cNvGrpSpPr/>
            <p:nvPr/>
          </p:nvGrpSpPr>
          <p:grpSpPr>
            <a:xfrm>
              <a:off x="127322" y="3163816"/>
              <a:ext cx="8349204" cy="3525549"/>
              <a:chOff x="127322" y="3163816"/>
              <a:chExt cx="8349204" cy="3525549"/>
            </a:xfrm>
          </p:grpSpPr>
          <p:pic>
            <p:nvPicPr>
              <p:cNvPr id="6" name="Picture 5">
                <a:extLst>
                  <a:ext uri="{FF2B5EF4-FFF2-40B4-BE49-F238E27FC236}">
                    <a16:creationId xmlns:a16="http://schemas.microsoft.com/office/drawing/2014/main" id="{7830A72B-2DCE-D44E-B977-A53B4AFCF48F}"/>
                  </a:ext>
                </a:extLst>
              </p:cNvPr>
              <p:cNvPicPr>
                <a:picLocks noChangeAspect="1"/>
              </p:cNvPicPr>
              <p:nvPr/>
            </p:nvPicPr>
            <p:blipFill>
              <a:blip r:embed="rId2"/>
              <a:stretch>
                <a:fillRect/>
              </a:stretch>
            </p:blipFill>
            <p:spPr>
              <a:xfrm>
                <a:off x="318302" y="3163816"/>
                <a:ext cx="7639291" cy="2043909"/>
              </a:xfrm>
              <a:prstGeom prst="rect">
                <a:avLst/>
              </a:prstGeom>
            </p:spPr>
          </p:pic>
          <p:sp>
            <p:nvSpPr>
              <p:cNvPr id="10" name="TextBox 9">
                <a:extLst>
                  <a:ext uri="{FF2B5EF4-FFF2-40B4-BE49-F238E27FC236}">
                    <a16:creationId xmlns:a16="http://schemas.microsoft.com/office/drawing/2014/main" id="{05536BBE-1500-1049-9E81-0E51F676C502}"/>
                  </a:ext>
                </a:extLst>
              </p:cNvPr>
              <p:cNvSpPr txBox="1"/>
              <p:nvPr/>
            </p:nvSpPr>
            <p:spPr>
              <a:xfrm>
                <a:off x="2228126" y="5038448"/>
                <a:ext cx="1851949" cy="338554"/>
              </a:xfrm>
              <a:prstGeom prst="rect">
                <a:avLst/>
              </a:prstGeom>
              <a:noFill/>
            </p:spPr>
            <p:txBody>
              <a:bodyPr wrap="square" rtlCol="0">
                <a:spAutoFit/>
              </a:bodyPr>
              <a:lstStyle/>
              <a:p>
                <a:r>
                  <a:rPr lang="en-US" sz="1600" b="1" dirty="0">
                    <a:solidFill>
                      <a:srgbClr val="0070C0"/>
                    </a:solidFill>
                  </a:rPr>
                  <a:t>more stochastic</a:t>
                </a:r>
                <a:endParaRPr lang="en-VN" sz="1600" b="1" dirty="0">
                  <a:solidFill>
                    <a:srgbClr val="0070C0"/>
                  </a:solidFill>
                </a:endParaRPr>
              </a:p>
            </p:txBody>
          </p:sp>
          <p:pic>
            <p:nvPicPr>
              <p:cNvPr id="12" name="Picture 11">
                <a:extLst>
                  <a:ext uri="{FF2B5EF4-FFF2-40B4-BE49-F238E27FC236}">
                    <a16:creationId xmlns:a16="http://schemas.microsoft.com/office/drawing/2014/main" id="{3BC65841-F472-A442-99CB-D32B83D8CD8C}"/>
                  </a:ext>
                </a:extLst>
              </p:cNvPr>
              <p:cNvPicPr>
                <a:picLocks noChangeAspect="1"/>
              </p:cNvPicPr>
              <p:nvPr/>
            </p:nvPicPr>
            <p:blipFill>
              <a:blip r:embed="rId3"/>
              <a:stretch>
                <a:fillRect/>
              </a:stretch>
            </p:blipFill>
            <p:spPr>
              <a:xfrm>
                <a:off x="127322" y="5377002"/>
                <a:ext cx="8349204" cy="1312363"/>
              </a:xfrm>
              <a:prstGeom prst="rect">
                <a:avLst/>
              </a:prstGeom>
            </p:spPr>
          </p:pic>
        </p:grpSp>
        <p:sp>
          <p:nvSpPr>
            <p:cNvPr id="17" name="TextBox 16">
              <a:extLst>
                <a:ext uri="{FF2B5EF4-FFF2-40B4-BE49-F238E27FC236}">
                  <a16:creationId xmlns:a16="http://schemas.microsoft.com/office/drawing/2014/main" id="{4C66D547-C7FB-A843-BB1F-BCF3EF511A3D}"/>
                </a:ext>
              </a:extLst>
            </p:cNvPr>
            <p:cNvSpPr txBox="1"/>
            <p:nvPr/>
          </p:nvSpPr>
          <p:spPr>
            <a:xfrm>
              <a:off x="3763701" y="6581001"/>
              <a:ext cx="1525645" cy="276999"/>
            </a:xfrm>
            <a:prstGeom prst="rect">
              <a:avLst/>
            </a:prstGeom>
            <a:noFill/>
          </p:spPr>
          <p:txBody>
            <a:bodyPr wrap="square" rtlCol="0">
              <a:spAutoFit/>
            </a:bodyPr>
            <a:lstStyle/>
            <a:p>
              <a:r>
                <a:rPr lang="en-US" sz="1200" dirty="0"/>
                <a:t>Hours</a:t>
              </a:r>
              <a:endParaRPr lang="en-VN" sz="1200" dirty="0"/>
            </a:p>
          </p:txBody>
        </p:sp>
      </p:grpSp>
      <p:grpSp>
        <p:nvGrpSpPr>
          <p:cNvPr id="23" name="Group 22">
            <a:extLst>
              <a:ext uri="{FF2B5EF4-FFF2-40B4-BE49-F238E27FC236}">
                <a16:creationId xmlns:a16="http://schemas.microsoft.com/office/drawing/2014/main" id="{EFC41C43-2203-DF46-B8CF-50748FEAA610}"/>
              </a:ext>
            </a:extLst>
          </p:cNvPr>
          <p:cNvGrpSpPr/>
          <p:nvPr/>
        </p:nvGrpSpPr>
        <p:grpSpPr>
          <a:xfrm>
            <a:off x="3763701" y="873315"/>
            <a:ext cx="8183301" cy="2121224"/>
            <a:chOff x="3763701" y="873315"/>
            <a:chExt cx="8183301" cy="2121224"/>
          </a:xfrm>
        </p:grpSpPr>
        <p:grpSp>
          <p:nvGrpSpPr>
            <p:cNvPr id="20" name="Group 19">
              <a:extLst>
                <a:ext uri="{FF2B5EF4-FFF2-40B4-BE49-F238E27FC236}">
                  <a16:creationId xmlns:a16="http://schemas.microsoft.com/office/drawing/2014/main" id="{39A315A5-2E69-564E-A3FA-555655484E48}"/>
                </a:ext>
              </a:extLst>
            </p:cNvPr>
            <p:cNvGrpSpPr/>
            <p:nvPr/>
          </p:nvGrpSpPr>
          <p:grpSpPr>
            <a:xfrm>
              <a:off x="3763701" y="873315"/>
              <a:ext cx="8183301" cy="2121224"/>
              <a:chOff x="3763701" y="873315"/>
              <a:chExt cx="8183301" cy="2121224"/>
            </a:xfrm>
          </p:grpSpPr>
          <p:grpSp>
            <p:nvGrpSpPr>
              <p:cNvPr id="14" name="Group 13">
                <a:extLst>
                  <a:ext uri="{FF2B5EF4-FFF2-40B4-BE49-F238E27FC236}">
                    <a16:creationId xmlns:a16="http://schemas.microsoft.com/office/drawing/2014/main" id="{6E32573E-6C21-0245-8AF8-504FB3561EF9}"/>
                  </a:ext>
                </a:extLst>
              </p:cNvPr>
              <p:cNvGrpSpPr/>
              <p:nvPr/>
            </p:nvGrpSpPr>
            <p:grpSpPr>
              <a:xfrm>
                <a:off x="3763701" y="873315"/>
                <a:ext cx="8183301" cy="2121224"/>
                <a:chOff x="2004349" y="798019"/>
                <a:chExt cx="8183301" cy="2121224"/>
              </a:xfrm>
            </p:grpSpPr>
            <p:pic>
              <p:nvPicPr>
                <p:cNvPr id="8" name="Picture 7">
                  <a:extLst>
                    <a:ext uri="{FF2B5EF4-FFF2-40B4-BE49-F238E27FC236}">
                      <a16:creationId xmlns:a16="http://schemas.microsoft.com/office/drawing/2014/main" id="{66C88908-00C5-2B43-A08C-D32622C6C487}"/>
                    </a:ext>
                  </a:extLst>
                </p:cNvPr>
                <p:cNvPicPr>
                  <a:picLocks noChangeAspect="1"/>
                </p:cNvPicPr>
                <p:nvPr/>
              </p:nvPicPr>
              <p:blipFill>
                <a:blip r:embed="rId4"/>
                <a:stretch>
                  <a:fillRect/>
                </a:stretch>
              </p:blipFill>
              <p:spPr>
                <a:xfrm>
                  <a:off x="2004349" y="798019"/>
                  <a:ext cx="8183301" cy="1782670"/>
                </a:xfrm>
                <a:prstGeom prst="rect">
                  <a:avLst/>
                </a:prstGeom>
              </p:spPr>
            </p:pic>
            <p:sp>
              <p:nvSpPr>
                <p:cNvPr id="9" name="TextBox 8">
                  <a:extLst>
                    <a:ext uri="{FF2B5EF4-FFF2-40B4-BE49-F238E27FC236}">
                      <a16:creationId xmlns:a16="http://schemas.microsoft.com/office/drawing/2014/main" id="{C313D586-2FC2-DB43-B22C-467119D509B8}"/>
                    </a:ext>
                  </a:extLst>
                </p:cNvPr>
                <p:cNvSpPr txBox="1"/>
                <p:nvPr/>
              </p:nvSpPr>
              <p:spPr>
                <a:xfrm>
                  <a:off x="4186177" y="2580689"/>
                  <a:ext cx="2233913" cy="338554"/>
                </a:xfrm>
                <a:prstGeom prst="rect">
                  <a:avLst/>
                </a:prstGeom>
                <a:noFill/>
              </p:spPr>
              <p:txBody>
                <a:bodyPr wrap="square" rtlCol="0">
                  <a:spAutoFit/>
                </a:bodyPr>
                <a:lstStyle/>
                <a:p>
                  <a:r>
                    <a:rPr lang="en-US" sz="1600" b="1" dirty="0">
                      <a:solidFill>
                        <a:srgbClr val="FF0000"/>
                      </a:solidFill>
                    </a:rPr>
                    <a:t>m</a:t>
                  </a:r>
                  <a:r>
                    <a:rPr lang="en-VN" sz="1600" b="1" dirty="0">
                      <a:solidFill>
                        <a:srgbClr val="FF0000"/>
                      </a:solidFill>
                    </a:rPr>
                    <a:t>ore predictable</a:t>
                  </a:r>
                </a:p>
              </p:txBody>
            </p:sp>
          </p:grpSp>
          <p:sp>
            <p:nvSpPr>
              <p:cNvPr id="19" name="TextBox 18">
                <a:extLst>
                  <a:ext uri="{FF2B5EF4-FFF2-40B4-BE49-F238E27FC236}">
                    <a16:creationId xmlns:a16="http://schemas.microsoft.com/office/drawing/2014/main" id="{94401D2F-9B16-3349-98A0-60E946849C65}"/>
                  </a:ext>
                </a:extLst>
              </p:cNvPr>
              <p:cNvSpPr txBox="1"/>
              <p:nvPr/>
            </p:nvSpPr>
            <p:spPr>
              <a:xfrm>
                <a:off x="7713703" y="2686762"/>
                <a:ext cx="1525645" cy="276999"/>
              </a:xfrm>
              <a:prstGeom prst="rect">
                <a:avLst/>
              </a:prstGeom>
              <a:noFill/>
            </p:spPr>
            <p:txBody>
              <a:bodyPr wrap="square" rtlCol="0">
                <a:spAutoFit/>
              </a:bodyPr>
              <a:lstStyle/>
              <a:p>
                <a:r>
                  <a:rPr lang="en-US" sz="1200" dirty="0"/>
                  <a:t>Hours</a:t>
                </a:r>
                <a:endParaRPr lang="en-VN" sz="1200" dirty="0"/>
              </a:p>
            </p:txBody>
          </p:sp>
        </p:grpSp>
        <p:pic>
          <p:nvPicPr>
            <p:cNvPr id="22" name="Picture 21">
              <a:extLst>
                <a:ext uri="{FF2B5EF4-FFF2-40B4-BE49-F238E27FC236}">
                  <a16:creationId xmlns:a16="http://schemas.microsoft.com/office/drawing/2014/main" id="{E9403A9F-293E-AC44-807B-CA5EB6BB200C}"/>
                </a:ext>
              </a:extLst>
            </p:cNvPr>
            <p:cNvPicPr>
              <a:picLocks noChangeAspect="1"/>
            </p:cNvPicPr>
            <p:nvPr/>
          </p:nvPicPr>
          <p:blipFill>
            <a:blip r:embed="rId5"/>
            <a:stretch>
              <a:fillRect/>
            </a:stretch>
          </p:blipFill>
          <p:spPr>
            <a:xfrm>
              <a:off x="5110480" y="2572898"/>
              <a:ext cx="6776720" cy="186127"/>
            </a:xfrm>
            <a:prstGeom prst="rect">
              <a:avLst/>
            </a:prstGeom>
          </p:spPr>
        </p:pic>
      </p:grpSp>
    </p:spTree>
    <p:extLst>
      <p:ext uri="{BB962C8B-B14F-4D97-AF65-F5344CB8AC3E}">
        <p14:creationId xmlns:p14="http://schemas.microsoft.com/office/powerpoint/2010/main" val="3892410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91F6636-774D-BF4D-A82B-081967EA9309}"/>
              </a:ext>
            </a:extLst>
          </p:cNvPr>
          <p:cNvSpPr>
            <a:spLocks noGrp="1"/>
          </p:cNvSpPr>
          <p:nvPr>
            <p:ph type="title"/>
          </p:nvPr>
        </p:nvSpPr>
        <p:spPr>
          <a:xfrm>
            <a:off x="1034005" y="290653"/>
            <a:ext cx="10319795" cy="415404"/>
          </a:xfrm>
        </p:spPr>
        <p:txBody>
          <a:bodyPr>
            <a:normAutofit fontScale="90000"/>
          </a:bodyPr>
          <a:lstStyle/>
          <a:p>
            <a:pPr algn="ctr"/>
            <a:r>
              <a:rPr lang="en-VN" sz="3200" dirty="0"/>
              <a:t>Long-timescale variability behaviors? </a:t>
            </a:r>
          </a:p>
        </p:txBody>
      </p:sp>
      <p:grpSp>
        <p:nvGrpSpPr>
          <p:cNvPr id="7" name="Group 6">
            <a:extLst>
              <a:ext uri="{FF2B5EF4-FFF2-40B4-BE49-F238E27FC236}">
                <a16:creationId xmlns:a16="http://schemas.microsoft.com/office/drawing/2014/main" id="{E607B2F8-EFE5-1E44-8340-0FD82D2EB2B2}"/>
              </a:ext>
            </a:extLst>
          </p:cNvPr>
          <p:cNvGrpSpPr/>
          <p:nvPr/>
        </p:nvGrpSpPr>
        <p:grpSpPr>
          <a:xfrm>
            <a:off x="89702" y="1066317"/>
            <a:ext cx="7283371" cy="3066520"/>
            <a:chOff x="170725" y="2258509"/>
            <a:chExt cx="7283371" cy="3066520"/>
          </a:xfrm>
        </p:grpSpPr>
        <p:grpSp>
          <p:nvGrpSpPr>
            <p:cNvPr id="5" name="Group 4">
              <a:extLst>
                <a:ext uri="{FF2B5EF4-FFF2-40B4-BE49-F238E27FC236}">
                  <a16:creationId xmlns:a16="http://schemas.microsoft.com/office/drawing/2014/main" id="{B744D81E-B9AB-C34F-84A7-8AC4C589D3FF}"/>
                </a:ext>
              </a:extLst>
            </p:cNvPr>
            <p:cNvGrpSpPr/>
            <p:nvPr/>
          </p:nvGrpSpPr>
          <p:grpSpPr>
            <a:xfrm>
              <a:off x="170725" y="2258509"/>
              <a:ext cx="7283371" cy="3066520"/>
              <a:chOff x="1154573" y="1714500"/>
              <a:chExt cx="8841131" cy="3811554"/>
            </a:xfrm>
          </p:grpSpPr>
          <p:pic>
            <p:nvPicPr>
              <p:cNvPr id="3" name="Picture 2">
                <a:extLst>
                  <a:ext uri="{FF2B5EF4-FFF2-40B4-BE49-F238E27FC236}">
                    <a16:creationId xmlns:a16="http://schemas.microsoft.com/office/drawing/2014/main" id="{7A0C10DD-A489-3F42-9B70-8DFD93319010}"/>
                  </a:ext>
                </a:extLst>
              </p:cNvPr>
              <p:cNvPicPr>
                <a:picLocks noChangeAspect="1"/>
              </p:cNvPicPr>
              <p:nvPr/>
            </p:nvPicPr>
            <p:blipFill rotWithShape="1">
              <a:blip r:embed="rId2"/>
              <a:srcRect b="50000"/>
              <a:stretch/>
            </p:blipFill>
            <p:spPr>
              <a:xfrm>
                <a:off x="1154573" y="1714500"/>
                <a:ext cx="8841131" cy="3429000"/>
              </a:xfrm>
              <a:prstGeom prst="rect">
                <a:avLst/>
              </a:prstGeom>
            </p:spPr>
          </p:pic>
          <p:sp>
            <p:nvSpPr>
              <p:cNvPr id="16" name="TextBox 15">
                <a:extLst>
                  <a:ext uri="{FF2B5EF4-FFF2-40B4-BE49-F238E27FC236}">
                    <a16:creationId xmlns:a16="http://schemas.microsoft.com/office/drawing/2014/main" id="{BE016247-55EB-C840-A9B4-F7459948D1C4}"/>
                  </a:ext>
                </a:extLst>
              </p:cNvPr>
              <p:cNvSpPr txBox="1"/>
              <p:nvPr/>
            </p:nvSpPr>
            <p:spPr>
              <a:xfrm>
                <a:off x="5376440" y="5143500"/>
                <a:ext cx="1851948" cy="382554"/>
              </a:xfrm>
              <a:prstGeom prst="rect">
                <a:avLst/>
              </a:prstGeom>
              <a:noFill/>
            </p:spPr>
            <p:txBody>
              <a:bodyPr wrap="square" rtlCol="0">
                <a:spAutoFit/>
              </a:bodyPr>
              <a:lstStyle/>
              <a:p>
                <a:r>
                  <a:rPr lang="en-US" sz="1400" dirty="0"/>
                  <a:t>Periods</a:t>
                </a:r>
                <a:endParaRPr lang="en-VN" sz="1400" dirty="0"/>
              </a:p>
            </p:txBody>
          </p:sp>
        </p:grpSp>
        <p:sp>
          <p:nvSpPr>
            <p:cNvPr id="17" name="TextBox 16">
              <a:extLst>
                <a:ext uri="{FF2B5EF4-FFF2-40B4-BE49-F238E27FC236}">
                  <a16:creationId xmlns:a16="http://schemas.microsoft.com/office/drawing/2014/main" id="{494264C5-4E4D-DF43-BA29-8C02EC29379D}"/>
                </a:ext>
              </a:extLst>
            </p:cNvPr>
            <p:cNvSpPr txBox="1"/>
            <p:nvPr/>
          </p:nvSpPr>
          <p:spPr>
            <a:xfrm>
              <a:off x="5287218" y="2258509"/>
              <a:ext cx="2166878" cy="307777"/>
            </a:xfrm>
            <a:prstGeom prst="rect">
              <a:avLst/>
            </a:prstGeom>
            <a:noFill/>
          </p:spPr>
          <p:txBody>
            <a:bodyPr wrap="square" rtlCol="0">
              <a:spAutoFit/>
            </a:bodyPr>
            <a:lstStyle/>
            <a:p>
              <a:r>
                <a:rPr lang="en-US" sz="1400" dirty="0"/>
                <a:t>Tan, Showman 2021 GCMs</a:t>
              </a:r>
              <a:endParaRPr lang="en-VN" sz="1400" dirty="0"/>
            </a:p>
          </p:txBody>
        </p:sp>
      </p:grpSp>
      <p:pic>
        <p:nvPicPr>
          <p:cNvPr id="11" name="Picture 10">
            <a:extLst>
              <a:ext uri="{FF2B5EF4-FFF2-40B4-BE49-F238E27FC236}">
                <a16:creationId xmlns:a16="http://schemas.microsoft.com/office/drawing/2014/main" id="{F6A87039-A5D2-1C42-A902-AD3AE437E793}"/>
              </a:ext>
            </a:extLst>
          </p:cNvPr>
          <p:cNvPicPr>
            <a:picLocks noChangeAspect="1"/>
          </p:cNvPicPr>
          <p:nvPr/>
        </p:nvPicPr>
        <p:blipFill rotWithShape="1">
          <a:blip r:embed="rId3"/>
          <a:srcRect l="50608"/>
          <a:stretch/>
        </p:blipFill>
        <p:spPr>
          <a:xfrm>
            <a:off x="7649966" y="706057"/>
            <a:ext cx="3689492" cy="4983543"/>
          </a:xfrm>
          <a:prstGeom prst="rect">
            <a:avLst/>
          </a:prstGeom>
        </p:spPr>
      </p:pic>
    </p:spTree>
    <p:extLst>
      <p:ext uri="{BB962C8B-B14F-4D97-AF65-F5344CB8AC3E}">
        <p14:creationId xmlns:p14="http://schemas.microsoft.com/office/powerpoint/2010/main" val="3095988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91F6636-774D-BF4D-A82B-081967EA9309}"/>
              </a:ext>
            </a:extLst>
          </p:cNvPr>
          <p:cNvSpPr>
            <a:spLocks noGrp="1"/>
          </p:cNvSpPr>
          <p:nvPr>
            <p:ph type="title"/>
          </p:nvPr>
        </p:nvSpPr>
        <p:spPr>
          <a:xfrm>
            <a:off x="1034005" y="290653"/>
            <a:ext cx="10319795" cy="415404"/>
          </a:xfrm>
        </p:spPr>
        <p:txBody>
          <a:bodyPr>
            <a:normAutofit fontScale="90000"/>
          </a:bodyPr>
          <a:lstStyle/>
          <a:p>
            <a:pPr algn="ctr"/>
            <a:r>
              <a:rPr lang="en-VN" sz="3200" dirty="0"/>
              <a:t>Long-timescale variability behaviors? </a:t>
            </a:r>
          </a:p>
        </p:txBody>
      </p:sp>
      <p:pic>
        <p:nvPicPr>
          <p:cNvPr id="6" name="Picture 5">
            <a:extLst>
              <a:ext uri="{FF2B5EF4-FFF2-40B4-BE49-F238E27FC236}">
                <a16:creationId xmlns:a16="http://schemas.microsoft.com/office/drawing/2014/main" id="{49AD44B1-DB8E-A747-9FE8-A4F53CC59421}"/>
              </a:ext>
            </a:extLst>
          </p:cNvPr>
          <p:cNvPicPr>
            <a:picLocks noChangeAspect="1"/>
          </p:cNvPicPr>
          <p:nvPr/>
        </p:nvPicPr>
        <p:blipFill>
          <a:blip r:embed="rId2"/>
          <a:stretch>
            <a:fillRect/>
          </a:stretch>
        </p:blipFill>
        <p:spPr>
          <a:xfrm>
            <a:off x="2164080" y="817500"/>
            <a:ext cx="8186420" cy="5437249"/>
          </a:xfrm>
          <a:prstGeom prst="rect">
            <a:avLst/>
          </a:prstGeom>
        </p:spPr>
      </p:pic>
    </p:spTree>
    <p:extLst>
      <p:ext uri="{BB962C8B-B14F-4D97-AF65-F5344CB8AC3E}">
        <p14:creationId xmlns:p14="http://schemas.microsoft.com/office/powerpoint/2010/main" val="2929994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5DDE44D-88B0-AA45-9246-CB9F27FF3100}"/>
              </a:ext>
            </a:extLst>
          </p:cNvPr>
          <p:cNvSpPr>
            <a:spLocks noGrp="1"/>
          </p:cNvSpPr>
          <p:nvPr>
            <p:ph type="title"/>
          </p:nvPr>
        </p:nvSpPr>
        <p:spPr>
          <a:xfrm>
            <a:off x="592964" y="535352"/>
            <a:ext cx="11006070" cy="415404"/>
          </a:xfrm>
        </p:spPr>
        <p:txBody>
          <a:bodyPr>
            <a:normAutofit fontScale="90000"/>
          </a:bodyPr>
          <a:lstStyle/>
          <a:p>
            <a:pPr algn="ctr"/>
            <a:r>
              <a:rPr lang="en-VN" sz="3200" dirty="0"/>
              <a:t>Polar vortices module improv</a:t>
            </a:r>
            <a:r>
              <a:rPr lang="en-US" sz="3200" dirty="0"/>
              <a:t>e</a:t>
            </a:r>
            <a:r>
              <a:rPr lang="en-VN" sz="3200" dirty="0"/>
              <a:t>ment: stochastic vortex birth &amp; dissipation</a:t>
            </a:r>
          </a:p>
        </p:txBody>
      </p:sp>
      <p:sp>
        <p:nvSpPr>
          <p:cNvPr id="8" name="TextBox 7">
            <a:extLst>
              <a:ext uri="{FF2B5EF4-FFF2-40B4-BE49-F238E27FC236}">
                <a16:creationId xmlns:a16="http://schemas.microsoft.com/office/drawing/2014/main" id="{32FEA8F8-5212-7A43-9234-3CAC89C3EE10}"/>
              </a:ext>
            </a:extLst>
          </p:cNvPr>
          <p:cNvSpPr txBox="1"/>
          <p:nvPr/>
        </p:nvSpPr>
        <p:spPr>
          <a:xfrm>
            <a:off x="1219736" y="1588677"/>
            <a:ext cx="9752525" cy="4247317"/>
          </a:xfrm>
          <a:prstGeom prst="rect">
            <a:avLst/>
          </a:prstGeom>
          <a:noFill/>
        </p:spPr>
        <p:txBody>
          <a:bodyPr wrap="square">
            <a:spAutoFit/>
          </a:bodyPr>
          <a:lstStyle/>
          <a:p>
            <a:r>
              <a:rPr lang="en-VN" b="1" dirty="0"/>
              <a:t>The polar atmosphere contains the following vortex features</a:t>
            </a:r>
          </a:p>
          <a:p>
            <a:endParaRPr lang="en-VN" dirty="0"/>
          </a:p>
          <a:p>
            <a:pPr marL="285750" indent="-285750">
              <a:buFont typeface="Arial" panose="020B0604020202020204" pitchFamily="34" charset="0"/>
              <a:buChar char="•"/>
            </a:pPr>
            <a:r>
              <a:rPr lang="en-VN" dirty="0"/>
              <a:t>Circular-spot vortices with radii limited by |R_vor_upper| that persist over a range of lifetime timescales |Tlife| in units of rotation periods. </a:t>
            </a:r>
          </a:p>
          <a:p>
            <a:pPr marL="285750" indent="-285750">
              <a:buFont typeface="Arial" panose="020B0604020202020204" pitchFamily="34" charset="0"/>
              <a:buChar char="•"/>
            </a:pPr>
            <a:endParaRPr lang="en-VN" dirty="0"/>
          </a:p>
          <a:p>
            <a:pPr marL="285750" indent="-285750">
              <a:buFont typeface="Arial" panose="020B0604020202020204" pitchFamily="34" charset="0"/>
              <a:buChar char="•"/>
            </a:pPr>
            <a:r>
              <a:rPr lang="en-VN" dirty="0"/>
              <a:t>The vortices have randomly spawned vortex start points as polar coordinates (with a given |seed|). </a:t>
            </a:r>
          </a:p>
          <a:p>
            <a:pPr marL="285750" indent="-285750">
              <a:buFont typeface="Arial" panose="020B0604020202020204" pitchFamily="34" charset="0"/>
              <a:buChar char="•"/>
            </a:pPr>
            <a:endParaRPr lang="en-VN" dirty="0"/>
          </a:p>
          <a:p>
            <a:pPr marL="285750" indent="-285750">
              <a:buFont typeface="Arial" panose="020B0604020202020204" pitchFamily="34" charset="0"/>
              <a:buChar char="•"/>
            </a:pPr>
            <a:r>
              <a:rPr lang="en-VN" dirty="0"/>
              <a:t>During their lifetime, the vortex radii |R_vor| as a function of time fluctuate sinusoidally at period |P_vor_shrinkgrow| with amplitude |A_vor_shrinkgrow| and phase |phase_vor_shrinkgrow|. </a:t>
            </a:r>
          </a:p>
          <a:p>
            <a:pPr marL="285750" indent="-285750">
              <a:buFont typeface="Arial" panose="020B0604020202020204" pitchFamily="34" charset="0"/>
              <a:buChar char="•"/>
            </a:pPr>
            <a:endParaRPr lang="en-VN" dirty="0"/>
          </a:p>
          <a:p>
            <a:pPr marL="285750" indent="-285750">
              <a:buFont typeface="Arial" panose="020B0604020202020204" pitchFamily="34" charset="0"/>
              <a:buChar char="•"/>
            </a:pPr>
            <a:r>
              <a:rPr lang="en-VN" dirty="0"/>
              <a:t>At the start of their lifetime, vortices grow over a transition timescale |Ttrans| from nothing into their final size, then dissipate into nothing as well at the end of their lifetime. </a:t>
            </a:r>
          </a:p>
          <a:p>
            <a:pPr marL="285750" indent="-285750">
              <a:buFont typeface="Arial" panose="020B0604020202020204" pitchFamily="34" charset="0"/>
              <a:buChar char="•"/>
            </a:pPr>
            <a:endParaRPr lang="en-VN" dirty="0"/>
          </a:p>
          <a:p>
            <a:pPr marL="285750" indent="-285750">
              <a:buFont typeface="Arial" panose="020B0604020202020204" pitchFamily="34" charset="0"/>
              <a:buChar char="•"/>
            </a:pPr>
            <a:r>
              <a:rPr lang="en-VN" dirty="0"/>
              <a:t>Each vortex have a randomized brightness value assigned at their birth, |flux_vor|, remaining constant throughout lifetime.</a:t>
            </a:r>
          </a:p>
        </p:txBody>
      </p:sp>
    </p:spTree>
    <p:extLst>
      <p:ext uri="{BB962C8B-B14F-4D97-AF65-F5344CB8AC3E}">
        <p14:creationId xmlns:p14="http://schemas.microsoft.com/office/powerpoint/2010/main" val="1069549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89E5CB-2D84-0C41-85B3-70DF85BFB61E}"/>
              </a:ext>
            </a:extLst>
          </p:cNvPr>
          <p:cNvSpPr txBox="1"/>
          <p:nvPr/>
        </p:nvSpPr>
        <p:spPr>
          <a:xfrm>
            <a:off x="182450" y="1253949"/>
            <a:ext cx="11827099" cy="5509200"/>
          </a:xfrm>
          <a:prstGeom prst="rect">
            <a:avLst/>
          </a:prstGeom>
          <a:noFill/>
        </p:spPr>
        <p:txBody>
          <a:bodyPr wrap="square">
            <a:spAutoFit/>
          </a:bodyPr>
          <a:lstStyle/>
          <a:p>
            <a:r>
              <a:rPr lang="en-VN" sz="800" dirty="0"/>
              <a:t>Claude dynamic vortex model requirements</a:t>
            </a:r>
          </a:p>
          <a:p>
            <a:endParaRPr lang="en-VN" sz="800" dirty="0"/>
          </a:p>
          <a:p>
            <a:r>
              <a:rPr lang="en-VN" sz="800" dirty="0"/>
              <a:t>I would like you to write this code and create a visualization in HTML to envision a dynamic polar vortex model. If a quantity is in |verb|, it is an important customizable parameter that can be controlled. You don't have to start from scratch, and you could review the sphere_shader.html module below for reference and understanding; however, remember that I want to create a new module independent of it with very different features. This will be a complex task, so feel free to split it into phases and into modular parts. Before you start, review the requirement carefully and ask for clarification if needed.</a:t>
            </a:r>
          </a:p>
          <a:p>
            <a:endParaRPr lang="en-VN" sz="800" dirty="0"/>
          </a:p>
          <a:p>
            <a:r>
              <a:rPr lang="en-VN" sz="800" dirty="0"/>
              <a:t>* [Polar vortex framework requirement] Create a spherical projection of the polar atmosphere. The sphere is at brightness level 1, and all the same except for the north polar region that extends from 60deg-90deg (with 90deg being the north pole). This atmosphere rotate over rotation period P — as a unit.</a:t>
            </a:r>
          </a:p>
          <a:p>
            <a:r>
              <a:rPr lang="en-VN" sz="800" dirty="0"/>
              <a:t>    * The polar atmosphere contains the following vortex features: circular-spot vortices with radii limited by |R_vor_upper| that persist over a range of lifetime timescales |Tlife| in units of rotation periods. The vortices have randomly spawned vortex start points as polar coordinates (with a given |seed|). During their lifetime, the vortex radii |R_vor| as a function of time fluctuate sinusoidally at period |P_vor_shrinkgrow| with amplitude |A_vor_shrinkgrow| and phase |phase_vor_shrinkgrow|. At the start of their lifetime, vortices grow over a transition timescale |Ttrans| from nothing into their final size, then dissipate into nothing as well at the end of their lifetime. Each vortex have a randomized brightness value assigned at their birth, |flux_vor|</a:t>
            </a:r>
          </a:p>
          <a:p>
            <a:r>
              <a:rPr lang="en-VN" sz="800" dirty="0"/>
              <a:t>    * === Suggested ranges and values (range means it can be randomly chosen): angular vortex upper limits R_vor_upper=2-6 degrees; Tlife=10-40 rotation periods; Ttrans=3-5 rotation periods. P_vor_shrinkgrow=30-80% of Tlife, A_vor_shrinkgrow = 4%-15% of R_vor_upper, phase_vor_shrinkgrow randomized between [-pi, pi]. flux_vor=1.0-1.1.</a:t>
            </a:r>
          </a:p>
          <a:p>
            <a:r>
              <a:rPr lang="en-VN" sz="800" dirty="0"/>
              <a:t>    * For each vortex, it slowly migrates in a circular orbit at a randomized period |P_Migrate| and orbital radii |R_Migrate|. The speed and orbital radii are randomized. All circular orbits has to be contained within the latitude circles of |Lat1|60.5 degrees and |Lat2| 89.5 degrees, and do not overlap one another - this includes the footprint of the circular vortices themselves, and the circular orbit. The vortices cannot be closer than |R_stayaway| of 3degs. Allow an on/off option for the phase |phase_vor_orbit| of the circular orbits to be the same, or all different (randomized) in phase angle of orbit.</a:t>
            </a:r>
          </a:p>
          <a:p>
            <a:r>
              <a:rPr lang="en-VN" sz="800" dirty="0"/>
              <a:t>    * ==== Suggested ranges and values: R_migrate=1-4 R_vor_upper, use above Lat1, Lat2.  P_migrate = 10-40% of Tlife. </a:t>
            </a:r>
          </a:p>
          <a:p>
            <a:r>
              <a:rPr lang="en-VN" sz="800" dirty="0"/>
              <a:t>    * Vortex spawning and tracking work as follows: the start point and minimum number of vortices N is 6, with no more than 10 vortices in the atmosphere. The tracking of vortices is as follows: Spawn new vortices following the above requirements, such that the minimum and maximum number of vortices is satisfied. Follow these rules: 1) If a vortice bigger than R_vor 5 radians exist, new spawn vortices is capped at less than 5 deg. 2) Favor spawning locations that are the intersection of these longitudes and latitudes: Longitudes (0, 30, 60, 90, 120, 180, 210, 240, 270, 300, 330, 360), and Latitudes (65, 70, 75, 80, 85).</a:t>
            </a:r>
          </a:p>
          <a:p>
            <a:endParaRPr lang="en-VN" sz="800" dirty="0"/>
          </a:p>
          <a:p>
            <a:r>
              <a:rPr lang="en-VN" sz="800" dirty="0"/>
              <a:t>* [Visualization requirement]: The visualization contains three panels: A1, A2 (two columns on the same row), and B (second row), and a third rows of sliders, and a box for parameters. </a:t>
            </a:r>
          </a:p>
          <a:p>
            <a:r>
              <a:rPr lang="en-VN" sz="800" dirty="0"/>
              <a:t>    * A1 contains an animated image of the atmosphere and polar region viewed pole-on by default, with a user-customizable inclination viewing angle |i| in the slide. Sparse and thin spherical grid (longitude and latidude line) is shown on the projected atmosphere. The extent of the polar region (or really the 60 degree latitude line) is shown.</a:t>
            </a:r>
          </a:p>
          <a:p>
            <a:r>
              <a:rPr lang="en-VN" sz="800" dirty="0"/>
              <a:t>    * A2 contains an animated lightcurve plot with flux and time. The flux is normalized to 1, and is calculated by summing all the pixel values in the map together. The time plot is in unit of periods, and has a default range of 1-10 periods — both the flux and time range have a box of custom axis bounds. </a:t>
            </a:r>
          </a:p>
          <a:p>
            <a:r>
              <a:rPr lang="en-VN" sz="800" dirty="0"/>
              <a:t>    * B contains an animated plot of the periodograms/power spectrum in x-axis of period units with default range of 1-20 periods. The periodgrams get more detailed the more the simulation runs on.</a:t>
            </a:r>
          </a:p>
          <a:p>
            <a:r>
              <a:rPr lang="en-VN" sz="800" dirty="0"/>
              <a:t>    * Sliders option: inclination i, Nmin and Nmax, speed of simulation (from 0.1x periods to 5x periods). Suggest parameters that works well as sliders.</a:t>
            </a:r>
          </a:p>
          <a:p>
            <a:r>
              <a:rPr lang="en-VN" sz="800" dirty="0"/>
              <a:t>    * Parameters box option: include all the above parameters, along with other parameters you identify/create during the implementation process that matters.</a:t>
            </a:r>
          </a:p>
          <a:p>
            <a:endParaRPr lang="en-VN" sz="800" dirty="0"/>
          </a:p>
          <a:p>
            <a:r>
              <a:rPr lang="en-VN" sz="800" dirty="0"/>
              <a:t>==================================================================</a:t>
            </a:r>
          </a:p>
          <a:p>
            <a:r>
              <a:rPr lang="en-VN" sz="800" dirty="0"/>
              <a:t>[CLARIFICATIONS &amp; DECISIONS — added Oct 7, 2026 after review]</a:t>
            </a:r>
          </a:p>
          <a:p>
            <a:r>
              <a:rPr lang="en-VN" sz="800" dirty="0"/>
              <a:t>==================================================================</a:t>
            </a:r>
          </a:p>
          <a:p>
            <a:r>
              <a:rPr lang="en-VN" sz="800" dirty="0"/>
              <a:t>Interpretation notes</a:t>
            </a:r>
          </a:p>
          <a:p>
            <a:r>
              <a:rPr lang="en-VN" sz="800" dirty="0"/>
              <a:t>* "R_vor 5 radians" in spawn rule 1 is interpreted as 5 degrees (angular radius).</a:t>
            </a:r>
          </a:p>
          <a:p>
            <a:r>
              <a:rPr lang="en-VN" sz="800" dirty="0"/>
              <a:t>* The longitude list in spawn rule 2 omits 150; the full grid 0,30,...,330 (0 and 360 identical) is used.</a:t>
            </a:r>
          </a:p>
          <a:p>
            <a:r>
              <a:rPr lang="en-VN" sz="800" dirty="0"/>
              <a:t>* The sphere rotates as a rigid unit with period P (= 1 time unit); vortices are fixed in the co-rotating frame apart from their own migration.</a:t>
            </a:r>
          </a:p>
          <a:p>
            <a:endParaRPr lang="en-VN" sz="800" dirty="0"/>
          </a:p>
          <a:p>
            <a:r>
              <a:rPr lang="en-VN" sz="800" dirty="0"/>
              <a:t>Decision</a:t>
            </a:r>
          </a:p>
          <a:p>
            <a:r>
              <a:rPr lang="en-VN" sz="800" dirty="0"/>
              <a:t>1. Orbit sizes: R_migrate default range is reduced to 0.3-1.5 x R_vor_upper (original 1-4 cannot fit 6-10 non-overlapping orbits inside 60.5-89.5 deg). The range remains editable in the parameter box. Orbits (plus R_stayaway) must not overlap and must lie within Lat1-Lat2.</a:t>
            </a:r>
          </a:p>
          <a:p>
            <a:r>
              <a:rPr lang="en-VN" sz="800" dirty="0"/>
              <a:t>2. Light curve: sum of pixel values over the visible projected disk (the A1 image), normalized to 1 (mean-normalized). Includes foreshortening for inclination i; no limb darkening unless added as an optional toggle.</a:t>
            </a:r>
          </a:p>
          <a:p>
            <a:r>
              <a:rPr lang="en-VN" sz="800" dirty="0"/>
              <a:t>3. Periodogram (panel B): FFT of the accumulated, uniformly sampled light curve (zero-padded; resolution improves as the run lengthens). X-axis in period units, default range 1-20 periods.</a:t>
            </a:r>
          </a:p>
          <a:p>
            <a:r>
              <a:rPr lang="en-VN" sz="800" dirty="0"/>
              <a:t>4. Technology: single self-contained HTML file, CPU Canvas 2D for the map (exact pixel sums) + Plotly for light curve and periodogram.</a:t>
            </a:r>
          </a:p>
          <a:p>
            <a:endParaRPr lang="en-VN" sz="800" dirty="0"/>
          </a:p>
        </p:txBody>
      </p:sp>
      <p:sp>
        <p:nvSpPr>
          <p:cNvPr id="6" name="Title 1">
            <a:extLst>
              <a:ext uri="{FF2B5EF4-FFF2-40B4-BE49-F238E27FC236}">
                <a16:creationId xmlns:a16="http://schemas.microsoft.com/office/drawing/2014/main" id="{05DDE44D-88B0-AA45-9246-CB9F27FF3100}"/>
              </a:ext>
            </a:extLst>
          </p:cNvPr>
          <p:cNvSpPr>
            <a:spLocks noGrp="1"/>
          </p:cNvSpPr>
          <p:nvPr>
            <p:ph type="title"/>
          </p:nvPr>
        </p:nvSpPr>
        <p:spPr>
          <a:xfrm>
            <a:off x="592964" y="535352"/>
            <a:ext cx="11006070" cy="415404"/>
          </a:xfrm>
        </p:spPr>
        <p:txBody>
          <a:bodyPr>
            <a:normAutofit fontScale="90000"/>
          </a:bodyPr>
          <a:lstStyle/>
          <a:p>
            <a:pPr algn="ctr"/>
            <a:r>
              <a:rPr lang="en-VN" sz="3200" dirty="0"/>
              <a:t>Polar vortices module improv</a:t>
            </a:r>
            <a:r>
              <a:rPr lang="en-US" sz="3200" dirty="0"/>
              <a:t>e</a:t>
            </a:r>
            <a:r>
              <a:rPr lang="en-VN" sz="3200" dirty="0"/>
              <a:t>ment: stochastic vortex birth &amp; dissipation</a:t>
            </a:r>
          </a:p>
        </p:txBody>
      </p:sp>
    </p:spTree>
    <p:extLst>
      <p:ext uri="{BB962C8B-B14F-4D97-AF65-F5344CB8AC3E}">
        <p14:creationId xmlns:p14="http://schemas.microsoft.com/office/powerpoint/2010/main" val="36670252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5049</TotalTime>
  <Words>1659</Words>
  <Application>Microsoft Macintosh PowerPoint</Application>
  <PresentationFormat>Widescreen</PresentationFormat>
  <Paragraphs>62</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Polar vortices on directly-imaged letters</vt:lpstr>
      <vt:lpstr>Long-timescale variability behaviors? </vt:lpstr>
      <vt:lpstr>Long-timescale variability behaviors? </vt:lpstr>
      <vt:lpstr>Long-timescale variability behaviors? </vt:lpstr>
      <vt:lpstr>Polar vortices module improvement: stochastic vortex birth &amp; dissipation</vt:lpstr>
      <vt:lpstr>Polar vortices module improvement: stochastic vortex birth &amp; dissipation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Polar vortices on directly-imaged letters</dc:title>
  <dc:creator>Microsoft Office User</dc:creator>
  <cp:lastModifiedBy>Microsoft Office User</cp:lastModifiedBy>
  <cp:revision>2</cp:revision>
  <dcterms:created xsi:type="dcterms:W3CDTF">2026-10-06T05:01:20Z</dcterms:created>
  <dcterms:modified xsi:type="dcterms:W3CDTF">2026-10-09T17:11:19Z</dcterms:modified>
</cp:coreProperties>
</file>