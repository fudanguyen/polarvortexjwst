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2898"/>
  </p:normalViewPr>
  <p:slideViewPr>
    <p:cSldViewPr snapToGrid="0" snapToObjects="1">
      <p:cViewPr>
        <p:scale>
          <a:sx n="94" d="100"/>
          <a:sy n="94" d="100"/>
        </p:scale>
        <p:origin x="11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15F99-E7DD-5548-87EA-CDE213CFDB9D}" type="datetimeFigureOut">
              <a:rPr lang="en-VN" smtClean="0"/>
              <a:t>9/4/26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C6DBF-C588-AA4A-8797-CD455ACD391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707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sa.gov/image-article/jupiters-south-pole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nesdis.noaa.gov/news/satellites-help-visualize-the-polar-vortex" TargetMode="External"/><Relationship Id="rId4" Type="http://schemas.openxmlformats.org/officeDocument/2006/relationships/hyperlink" Target="https://www.nasa.gov/solar-system/planets/uranus/nasa-scientists-make-first-observation-of-a-polar-cyclone-on-uranus-2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dirty="0">
                <a:hlinkClick r:id="rId3"/>
              </a:rPr>
              <a:t>https://www.nasa.gov/image-article/jupiters-south-pole/</a:t>
            </a:r>
            <a:endParaRPr lang="en-VN" dirty="0"/>
          </a:p>
          <a:p>
            <a:br>
              <a:rPr lang="en-VN" dirty="0"/>
            </a:br>
            <a:r>
              <a:rPr lang="en-US" dirty="0">
                <a:hlinkClick r:id="rId4"/>
              </a:rPr>
              <a:t>https://www.nasa.gov/solar-system/planets/uranus/nasa-scientists-make-first-observation-of-a-polar-cyclone-on-uranus-2/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www.alamy.com</a:t>
            </a:r>
            <a:r>
              <a:rPr lang="en-US" dirty="0"/>
              <a:t>/stock-photo-saturns-north-pole-135016257.html</a:t>
            </a:r>
          </a:p>
          <a:p>
            <a:endParaRPr lang="en-US" dirty="0"/>
          </a:p>
          <a:p>
            <a:r>
              <a:rPr lang="en-US" dirty="0">
                <a:hlinkClick r:id="rId5"/>
              </a:rPr>
              <a:t>https://www.nesdis.noaa.gov/news/satellites-help-visualize-the-polar-vortex</a:t>
            </a:r>
            <a:endParaRPr lang="en-US" dirty="0"/>
          </a:p>
          <a:p>
            <a:br>
              <a:rPr lang="en-US" dirty="0"/>
            </a:br>
            <a:endParaRPr lang="en-VN" dirty="0"/>
          </a:p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C6DBF-C588-AA4A-8797-CD455ACD3915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23141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43EFD-70E8-254B-9972-8A9C9D916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1470A-99AA-7C4E-9DBB-9AD7279A7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4EEB7-889C-3041-A8A5-BFDA7676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3D74C-EDD3-DF43-9F73-F07FD3E6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F41B6-F35B-9C4F-948E-0E2E35CF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90294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8887-E78E-9D4E-B002-B5AEDC96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C6F55-F733-C04C-A13E-1A7157952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CA1FB-5F37-004E-9FAB-9956E7972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F87F-990D-FC4E-9FDD-87359415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FC301-F6C7-0B4C-B39D-D23DD00F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8621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3195-6B53-2244-95D4-25834733D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8C7C6-866D-FC48-B2FA-06669F8BC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63696-B86B-4346-B354-D791A067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E5B3-77A5-6E42-9169-E48743706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AF059-7449-AF4E-9090-0CB75875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5376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12A7-2970-5F43-8CCF-9C2C99B1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84202-E103-DD44-A94C-ED2D3A5ED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EC9E1-DB71-6749-8AC0-B5C0E4467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5AC4B-C3D6-2247-9973-DE0C3BCB0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B3EE4-5D1B-5345-8667-725BA630E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0BDC3-561A-214C-A1CA-66EEDC05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4504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0092-CA3D-7B4A-BFB7-D1277D85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C738A-9335-CB4D-A758-1923FD013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A8192-FD3B-6145-8A95-B3B2B623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22D1F-7FF3-9440-9A74-AD0D5D24F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525BF-B79E-474C-8E05-67D23E1B8C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EB8ED0-DB9C-814C-BDF6-B1F4B1B5E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20543D-26F5-8141-8CA4-20C8D2A4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B337E-FAC2-4F42-AB63-510A2886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6061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4AFFB-FDE2-B546-B180-6524CAE7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16C72-F166-AE4D-80C8-6F0229B7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8BBA0-DB1D-9B48-8836-70C6336E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A3E9E-B89F-8C48-8A9D-19EE0505E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3135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9371A-B6E3-684D-9007-2E78D82B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2EFC88-24CB-C942-BA70-3F51F699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A4121-8B7C-A041-81BF-C68494DE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3669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AC42-E6EF-1849-B6BE-BBACC4D2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A4587-320E-4845-B548-0FE65B2FD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BC9D6-0C68-C14F-972F-CED741D1C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FC6F6-E37F-274A-BFEE-CF815835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1A26C-17FE-4F4B-AD42-8B3AB68E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224AB-FB52-FB46-99F5-653E307A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03607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061AA-1410-F647-BBB1-822F7B677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C0642-90C9-684E-86ED-98A5130E6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5071A-A072-1240-AC81-E20A3ACA2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65DC0-8BA6-634F-AC9C-465F2B73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D75E7-1194-AC41-A9F1-6108DB4B1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EF8FC-B8A5-074B-87FC-11298E3E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6001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71D2-4BB3-D843-BBC9-60199A9B1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A64C8-3CAA-4E4F-A39E-47068769F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AA3A1-3CBA-E840-B8D9-219624F6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A8DBB-2076-9B45-83DA-EAF4FE32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B07F-80A2-484B-A734-617A663B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4904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C3D66-BE3E-C447-812F-ADE28261D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13434-1B6B-474A-9443-58605D819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08D4D-3B2D-C147-84BA-DDDED733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36A4B-890C-1644-8BD3-41EFD1F92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D3034-AD10-AC49-8330-23805E21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1022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70D8D8-6F46-594F-B23B-1FE84CEB1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2488C-2CD8-5E48-B7FD-3F874ACA9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08DF7-D5BB-3345-AE5C-883D17AC3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B3CC7-CBB8-1348-AA3B-341FD0824750}" type="datetimeFigureOut">
              <a:rPr lang="en-VN" smtClean="0"/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FC73C-3217-6047-9DC6-46C4F716D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154C5-4CCE-1741-9B23-94BA6E8BC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009F2-CC18-C241-8624-76461094825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4713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upiter's South Pole - NASA">
            <a:extLst>
              <a:ext uri="{FF2B5EF4-FFF2-40B4-BE49-F238E27FC236}">
                <a16:creationId xmlns:a16="http://schemas.microsoft.com/office/drawing/2014/main" id="{30016C38-D57E-EE41-8FBA-42FE932A44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2" b="9692"/>
          <a:stretch/>
        </p:blipFill>
        <p:spPr bwMode="auto">
          <a:xfrm>
            <a:off x="4537646" y="525886"/>
            <a:ext cx="1745829" cy="174582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A7F907C-56FB-A34C-8207-39498ED19E36}"/>
              </a:ext>
            </a:extLst>
          </p:cNvPr>
          <p:cNvSpPr/>
          <p:nvPr/>
        </p:nvSpPr>
        <p:spPr>
          <a:xfrm>
            <a:off x="308224" y="304800"/>
            <a:ext cx="10202239" cy="248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9C6C60-B3C3-3C46-8A91-F7A8A12C4967}"/>
              </a:ext>
            </a:extLst>
          </p:cNvPr>
          <p:cNvGrpSpPr/>
          <p:nvPr/>
        </p:nvGrpSpPr>
        <p:grpSpPr>
          <a:xfrm>
            <a:off x="2500277" y="525885"/>
            <a:ext cx="1745175" cy="2149051"/>
            <a:chOff x="2500277" y="525885"/>
            <a:chExt cx="1745175" cy="214905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E04DF69-D14F-464A-B983-19767E2184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817" t="5570" r="1348" b="1569"/>
            <a:stretch/>
          </p:blipFill>
          <p:spPr>
            <a:xfrm>
              <a:off x="2500277" y="525885"/>
              <a:ext cx="1745175" cy="1745829"/>
            </a:xfrm>
            <a:prstGeom prst="ellipse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B6AA5F-C77E-3040-875C-602CFC02F47E}"/>
                </a:ext>
              </a:extLst>
            </p:cNvPr>
            <p:cNvSpPr txBox="1"/>
            <p:nvPr/>
          </p:nvSpPr>
          <p:spPr>
            <a:xfrm>
              <a:off x="2719543" y="2397937"/>
              <a:ext cx="13066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200" dirty="0">
                  <a:latin typeface="DejaVu Math TeX Gyre" panose="02000503000000000000" pitchFamily="2" charset="77"/>
                  <a:ea typeface="DejaVu Math TeX Gyre" panose="02000503000000000000" pitchFamily="2" charset="77"/>
                  <a:cs typeface="DejaVu Math TeX Gyre" panose="02000503000000000000" pitchFamily="2" charset="77"/>
                </a:rPr>
                <a:t>b) Earth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CB7E698-E3BD-D940-B85D-6CB52B5925D3}"/>
              </a:ext>
            </a:extLst>
          </p:cNvPr>
          <p:cNvSpPr txBox="1"/>
          <p:nvPr/>
        </p:nvSpPr>
        <p:spPr>
          <a:xfrm>
            <a:off x="4757239" y="2394355"/>
            <a:ext cx="1306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200" dirty="0">
                <a:latin typeface="DejaVu Math TeX Gyre" panose="02000503000000000000" pitchFamily="2" charset="77"/>
                <a:ea typeface="DejaVu Math TeX Gyre" panose="02000503000000000000" pitchFamily="2" charset="77"/>
                <a:cs typeface="DejaVu Math TeX Gyre" panose="02000503000000000000" pitchFamily="2" charset="77"/>
              </a:rPr>
              <a:t>c) Jupiter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450278-8893-5240-B669-32317EE70722}"/>
              </a:ext>
            </a:extLst>
          </p:cNvPr>
          <p:cNvGrpSpPr/>
          <p:nvPr/>
        </p:nvGrpSpPr>
        <p:grpSpPr>
          <a:xfrm>
            <a:off x="8613038" y="525884"/>
            <a:ext cx="1745829" cy="2145470"/>
            <a:chOff x="6575670" y="525883"/>
            <a:chExt cx="1745829" cy="2145470"/>
          </a:xfrm>
        </p:grpSpPr>
        <p:pic>
          <p:nvPicPr>
            <p:cNvPr id="1028" name="Picture 4" descr="NASA Scientists Make First Observation of a Polar Cyclone on Uranus - NASA">
              <a:extLst>
                <a:ext uri="{FF2B5EF4-FFF2-40B4-BE49-F238E27FC236}">
                  <a16:creationId xmlns:a16="http://schemas.microsoft.com/office/drawing/2014/main" id="{6B511D49-5CFF-0A43-8230-4DC45524D8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41" t="13870" r="34873" b="13870"/>
            <a:stretch/>
          </p:blipFill>
          <p:spPr bwMode="auto">
            <a:xfrm rot="16200000">
              <a:off x="6575670" y="525883"/>
              <a:ext cx="1745829" cy="1745829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55045DE-FC45-B744-B70F-428D1A4D8760}"/>
                </a:ext>
              </a:extLst>
            </p:cNvPr>
            <p:cNvSpPr txBox="1"/>
            <p:nvPr/>
          </p:nvSpPr>
          <p:spPr>
            <a:xfrm>
              <a:off x="6795263" y="2394354"/>
              <a:ext cx="13066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200" dirty="0">
                  <a:latin typeface="DejaVu Math TeX Gyre" panose="02000503000000000000" pitchFamily="2" charset="77"/>
                  <a:ea typeface="DejaVu Math TeX Gyre" panose="02000503000000000000" pitchFamily="2" charset="77"/>
                  <a:cs typeface="DejaVu Math TeX Gyre" panose="02000503000000000000" pitchFamily="2" charset="77"/>
                </a:rPr>
                <a:t>d) Uranus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02CAB01-76E2-F749-9913-4FBE9306965C}"/>
              </a:ext>
            </a:extLst>
          </p:cNvPr>
          <p:cNvGrpSpPr/>
          <p:nvPr/>
        </p:nvGrpSpPr>
        <p:grpSpPr>
          <a:xfrm>
            <a:off x="6576701" y="525883"/>
            <a:ext cx="1745830" cy="2145471"/>
            <a:chOff x="8613694" y="525882"/>
            <a:chExt cx="1745830" cy="2145471"/>
          </a:xfrm>
        </p:grpSpPr>
        <p:pic>
          <p:nvPicPr>
            <p:cNvPr id="1030" name="Picture 6" descr="Polar weather on Jupiter and Saturn hints at the planets' interior details  | MIT News | Massachusetts Institute of Technology">
              <a:extLst>
                <a:ext uri="{FF2B5EF4-FFF2-40B4-BE49-F238E27FC236}">
                  <a16:creationId xmlns:a16="http://schemas.microsoft.com/office/drawing/2014/main" id="{5FB8B87C-3611-624E-B3C6-8DB5716A28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08" t="42" r="15082" b="42"/>
            <a:stretch/>
          </p:blipFill>
          <p:spPr bwMode="auto">
            <a:xfrm>
              <a:off x="8613694" y="525882"/>
              <a:ext cx="1745830" cy="174583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37797C-7F85-5A4B-8A72-C0E6351F05B0}"/>
                </a:ext>
              </a:extLst>
            </p:cNvPr>
            <p:cNvSpPr txBox="1"/>
            <p:nvPr/>
          </p:nvSpPr>
          <p:spPr>
            <a:xfrm>
              <a:off x="8833288" y="2394354"/>
              <a:ext cx="13066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200" dirty="0">
                  <a:latin typeface="DejaVu Math TeX Gyre" panose="02000503000000000000" pitchFamily="2" charset="77"/>
                  <a:ea typeface="DejaVu Math TeX Gyre" panose="02000503000000000000" pitchFamily="2" charset="77"/>
                  <a:cs typeface="DejaVu Math TeX Gyre" panose="02000503000000000000" pitchFamily="2" charset="77"/>
                </a:rPr>
                <a:t>e) Saturn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21C33AF-2F5F-CE4A-8CD2-80C0BE1494D9}"/>
              </a:ext>
            </a:extLst>
          </p:cNvPr>
          <p:cNvGrpSpPr/>
          <p:nvPr/>
        </p:nvGrpSpPr>
        <p:grpSpPr>
          <a:xfrm>
            <a:off x="2343150" y="304800"/>
            <a:ext cx="6134100" cy="2489200"/>
            <a:chOff x="2343150" y="304800"/>
            <a:chExt cx="6134100" cy="248920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A43F1CE-2F3F-1844-8F01-7A832F776BFD}"/>
                </a:ext>
              </a:extLst>
            </p:cNvPr>
            <p:cNvCxnSpPr>
              <a:cxnSpLocks/>
            </p:cNvCxnSpPr>
            <p:nvPr/>
          </p:nvCxnSpPr>
          <p:spPr>
            <a:xfrm>
              <a:off x="2343150" y="304800"/>
              <a:ext cx="0" cy="2489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44D56AB-EE77-2642-BC68-261F0CE8F53E}"/>
                </a:ext>
              </a:extLst>
            </p:cNvPr>
            <p:cNvCxnSpPr>
              <a:cxnSpLocks/>
            </p:cNvCxnSpPr>
            <p:nvPr/>
          </p:nvCxnSpPr>
          <p:spPr>
            <a:xfrm>
              <a:off x="4387850" y="304800"/>
              <a:ext cx="0" cy="2489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43D37C6-C0AB-1E41-863C-6D12B180614F}"/>
                </a:ext>
              </a:extLst>
            </p:cNvPr>
            <p:cNvCxnSpPr>
              <a:cxnSpLocks/>
            </p:cNvCxnSpPr>
            <p:nvPr/>
          </p:nvCxnSpPr>
          <p:spPr>
            <a:xfrm>
              <a:off x="6432550" y="304800"/>
              <a:ext cx="0" cy="2489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A070412-30DB-C345-BEB4-9E7BAE3019CC}"/>
                </a:ext>
              </a:extLst>
            </p:cNvPr>
            <p:cNvCxnSpPr>
              <a:cxnSpLocks/>
            </p:cNvCxnSpPr>
            <p:nvPr/>
          </p:nvCxnSpPr>
          <p:spPr>
            <a:xfrm>
              <a:off x="8477250" y="304800"/>
              <a:ext cx="0" cy="2489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4502FE-EABF-B645-B0CF-7D3E14463769}"/>
              </a:ext>
            </a:extLst>
          </p:cNvPr>
          <p:cNvGrpSpPr/>
          <p:nvPr/>
        </p:nvGrpSpPr>
        <p:grpSpPr>
          <a:xfrm>
            <a:off x="455578" y="525884"/>
            <a:ext cx="1745828" cy="2145471"/>
            <a:chOff x="455578" y="525884"/>
            <a:chExt cx="1745828" cy="214547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D7E2BF-76F1-8349-BFCB-D88FE055B5F9}"/>
                </a:ext>
              </a:extLst>
            </p:cNvPr>
            <p:cNvSpPr txBox="1"/>
            <p:nvPr/>
          </p:nvSpPr>
          <p:spPr>
            <a:xfrm>
              <a:off x="681847" y="2394356"/>
              <a:ext cx="13066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200" dirty="0">
                  <a:latin typeface="DejaVu Math TeX Gyre" panose="02000503000000000000" pitchFamily="2" charset="77"/>
                  <a:ea typeface="DejaVu Math TeX Gyre" panose="02000503000000000000" pitchFamily="2" charset="77"/>
                  <a:cs typeface="DejaVu Math TeX Gyre" panose="02000503000000000000" pitchFamily="2" charset="77"/>
                </a:rPr>
                <a:t>a) Our model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8C93B56-124D-244F-B748-C0E4A941E4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0965" t="11921" r="12083" b="11220"/>
            <a:stretch/>
          </p:blipFill>
          <p:spPr>
            <a:xfrm>
              <a:off x="455578" y="525884"/>
              <a:ext cx="1745828" cy="1745828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957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059BB7A-7016-4D4B-8DAD-8D8293449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6" y="703847"/>
            <a:ext cx="11798607" cy="290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60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71</Words>
  <Application>Microsoft Macintosh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DejaVu Math TeX Gyre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2026-04-10T01:40:44Z</dcterms:created>
  <dcterms:modified xsi:type="dcterms:W3CDTF">2026-04-10T04:32:54Z</dcterms:modified>
</cp:coreProperties>
</file>