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0"/>
  </p:notesMasterIdLst>
  <p:sldIdLst>
    <p:sldId id="259" r:id="rId2"/>
    <p:sldId id="322" r:id="rId3"/>
    <p:sldId id="309" r:id="rId4"/>
    <p:sldId id="324" r:id="rId5"/>
    <p:sldId id="325" r:id="rId6"/>
    <p:sldId id="299" r:id="rId7"/>
    <p:sldId id="323" r:id="rId8"/>
    <p:sldId id="32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B800"/>
    <a:srgbClr val="01AFB4"/>
    <a:srgbClr val="71FFFF"/>
    <a:srgbClr val="FFFC00"/>
    <a:srgbClr val="7070E4"/>
    <a:srgbClr val="C34E4F"/>
    <a:srgbClr val="FF34FF"/>
    <a:srgbClr val="DE9C46"/>
    <a:srgbClr val="FFB351"/>
    <a:srgbClr val="A07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6"/>
    <p:restoredTop sz="95988"/>
  </p:normalViewPr>
  <p:slideViewPr>
    <p:cSldViewPr snapToGrid="0" snapToObjects="1">
      <p:cViewPr varScale="1">
        <p:scale>
          <a:sx n="107" d="100"/>
          <a:sy n="107" d="100"/>
        </p:scale>
        <p:origin x="7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D0CA0-4346-A746-800A-9BA71D05CE09}" type="datetimeFigureOut">
              <a:rPr lang="en-VN" smtClean="0"/>
              <a:t>21/3/26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0B341-8BC2-C841-9694-A79F458759F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0982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VN" dirty="0"/>
            </a:br>
            <a:br>
              <a:rPr lang="en-VN" dirty="0"/>
            </a:br>
            <a:r>
              <a:rPr lang="en-VN" dirty="0"/>
              <a:t>1. spatial circulation framework based on earlier hypothesis: bands + vortex.</a:t>
            </a:r>
          </a:p>
          <a:p>
            <a:endParaRPr lang="en-VN" dirty="0"/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0B341-8BC2-C841-9694-A79F458759F0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008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B7D2C-D43F-6949-9649-1BF267F2354C}" type="datetime1">
              <a:rPr lang="en-US" smtClean="0"/>
              <a:t>3/21/26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2695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CF76-E428-CE48-98EC-89F7AF57EBEA}" type="datetime1">
              <a:rPr lang="en-US" smtClean="0"/>
              <a:t>3/21/26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5194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94AA9-EF8A-C343-BD5D-A423A6DD3204}" type="datetime1">
              <a:rPr lang="en-US" smtClean="0"/>
              <a:t>3/21/26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6261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BCB9-844A-8741-8DEC-C653BAACAF4A}" type="datetime1">
              <a:rPr lang="en-US" smtClean="0"/>
              <a:t>3/21/26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7611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D461A-971B-9747-913A-67895FC44777}" type="datetime1">
              <a:rPr lang="en-US" smtClean="0"/>
              <a:t>3/21/26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684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C11D7-C454-D242-8290-EE5D20BB2F14}" type="datetime1">
              <a:rPr lang="en-US" smtClean="0"/>
              <a:t>3/21/26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137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D526A-F17A-A147-B124-9C54BF2C3C85}" type="datetime1">
              <a:rPr lang="en-US" smtClean="0"/>
              <a:t>3/21/26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4260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3E96-7B05-8846-AC0F-D84A44AB0738}" type="datetime1">
              <a:rPr lang="en-US" smtClean="0"/>
              <a:t>3/21/26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349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E7EA-DB7C-BB44-9D2A-B3671F15A9DB}" type="datetime1">
              <a:rPr lang="en-US" smtClean="0"/>
              <a:t>3/21/26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1817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B4AF9-DD6C-714A-9794-880781DBF4C1}" type="datetime1">
              <a:rPr lang="en-US" smtClean="0"/>
              <a:t>3/21/26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858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A1378-4460-154B-A13D-5212A6DDB8E3}" type="datetime1">
              <a:rPr lang="en-US" smtClean="0"/>
              <a:t>3/21/26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2276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D4168-3E46-894A-A54C-B2CB3FF09303}" type="datetime1">
              <a:rPr lang="en-US" smtClean="0"/>
              <a:t>3/21/26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Nguyen Fuda - Pole-to-equator Divergences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8C17-8382-C44F-92A9-ECE7EDECD3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49116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microsoft.com/office/2007/relationships/hdphoto" Target="../media/hdphoto8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12.wd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F3432A9-C43D-8148-B710-9C8E1CEFE155}"/>
              </a:ext>
            </a:extLst>
          </p:cNvPr>
          <p:cNvSpPr txBox="1"/>
          <p:nvPr/>
        </p:nvSpPr>
        <p:spPr>
          <a:xfrm>
            <a:off x="423415" y="154223"/>
            <a:ext cx="11238154" cy="73866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 dirty="0">
                <a:solidFill>
                  <a:srgbClr val="FFFF00"/>
                </a:solidFill>
                <a:latin typeface="Helvetica" pitchFamily="2" charset="0"/>
              </a:rPr>
              <a:t>A Polar Vortex Forward-Modelling Framework: MAYMO 2D + 1D</a:t>
            </a:r>
          </a:p>
          <a:p>
            <a:pPr algn="ctr"/>
            <a:r>
              <a:rPr lang="en-VN" dirty="0">
                <a:latin typeface="Helvetica" pitchFamily="2" charset="0"/>
              </a:rPr>
              <a:t>Combining state-of-the-art models into a simpler multi-component framework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B26F536-F199-9E43-93E0-7E8455FD8E8B}"/>
              </a:ext>
            </a:extLst>
          </p:cNvPr>
          <p:cNvGrpSpPr/>
          <p:nvPr/>
        </p:nvGrpSpPr>
        <p:grpSpPr>
          <a:xfrm>
            <a:off x="196706" y="1255621"/>
            <a:ext cx="5695477" cy="3266138"/>
            <a:chOff x="-1239106" y="1377294"/>
            <a:chExt cx="5695477" cy="326613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3503F3-EA8E-AD41-B2A3-B286F909E526}"/>
                </a:ext>
              </a:extLst>
            </p:cNvPr>
            <p:cNvSpPr txBox="1"/>
            <p:nvPr/>
          </p:nvSpPr>
          <p:spPr>
            <a:xfrm>
              <a:off x="-1184061" y="1795821"/>
              <a:ext cx="187704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 dirty="0"/>
                <a:t>Short-period Bands (planetary-scale waves)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412373D-D5CA-2043-97CB-4AB9572937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l="1256" t="22444" r="71652" b="15450"/>
            <a:stretch/>
          </p:blipFill>
          <p:spPr>
            <a:xfrm>
              <a:off x="1212695" y="1377294"/>
              <a:ext cx="3243676" cy="326613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2DE9B7-1FD5-9345-9C1E-D535D1D3D1F2}"/>
                </a:ext>
              </a:extLst>
            </p:cNvPr>
            <p:cNvSpPr txBox="1"/>
            <p:nvPr/>
          </p:nvSpPr>
          <p:spPr>
            <a:xfrm>
              <a:off x="-1239106" y="3550673"/>
              <a:ext cx="18770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 dirty="0"/>
                <a:t>Long-Period Polar Vortices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4FF6FA8-578C-9947-91FA-715965E86637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692980" y="2027259"/>
              <a:ext cx="765479" cy="230227"/>
            </a:xfrm>
            <a:prstGeom prst="straightConnector1">
              <a:avLst/>
            </a:prstGeom>
            <a:ln w="19050">
              <a:solidFill>
                <a:srgbClr val="FFF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8450A1-B072-2240-9C77-2D1E139CAE2A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37935" y="3873839"/>
              <a:ext cx="1425038" cy="135009"/>
            </a:xfrm>
            <a:prstGeom prst="straightConnector1">
              <a:avLst/>
            </a:prstGeom>
            <a:ln w="19050">
              <a:solidFill>
                <a:srgbClr val="FFF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9C34C8E-E1B5-BC47-8C16-904ECBD719BD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92980" y="2257486"/>
              <a:ext cx="519715" cy="504830"/>
            </a:xfrm>
            <a:prstGeom prst="straightConnector1">
              <a:avLst/>
            </a:prstGeom>
            <a:ln w="19050">
              <a:solidFill>
                <a:srgbClr val="FFF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6EF1587-FEFB-784D-B164-A62F1683EFE8}"/>
              </a:ext>
            </a:extLst>
          </p:cNvPr>
          <p:cNvGrpSpPr/>
          <p:nvPr/>
        </p:nvGrpSpPr>
        <p:grpSpPr>
          <a:xfrm>
            <a:off x="6153822" y="1575291"/>
            <a:ext cx="6634414" cy="4488588"/>
            <a:chOff x="6589362" y="691475"/>
            <a:chExt cx="6634414" cy="448858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DD26191-D590-BB4B-BC9A-9F0914C8874F}"/>
                </a:ext>
              </a:extLst>
            </p:cNvPr>
            <p:cNvGrpSpPr/>
            <p:nvPr/>
          </p:nvGrpSpPr>
          <p:grpSpPr>
            <a:xfrm>
              <a:off x="6589362" y="691475"/>
              <a:ext cx="6634414" cy="4488588"/>
              <a:chOff x="3671317" y="1409687"/>
              <a:chExt cx="4968110" cy="336123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721734F-46BB-FF4A-BA6F-A539316D6A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20000"/>
                        </a14:imgEffect>
                      </a14:imgLayer>
                    </a14:imgProps>
                  </a:ext>
                </a:extLst>
              </a:blip>
              <a:srcRect l="28875"/>
              <a:stretch/>
            </p:blipFill>
            <p:spPr>
              <a:xfrm>
                <a:off x="3671317" y="1409687"/>
                <a:ext cx="4374324" cy="3361231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4C023D-B3EC-7B46-8747-899C6E5E3486}"/>
                  </a:ext>
                </a:extLst>
              </p:cNvPr>
              <p:cNvSpPr txBox="1"/>
              <p:nvPr/>
            </p:nvSpPr>
            <p:spPr>
              <a:xfrm>
                <a:off x="5128131" y="3495412"/>
                <a:ext cx="3511296" cy="27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b="1" dirty="0">
                    <a:solidFill>
                      <a:srgbClr val="FFFF00"/>
                    </a:solidFill>
                  </a:rPr>
                  <a:t>20 Cloud spectra from PICASO/VIRGA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92ED631-E3DE-1341-B5C7-F0C7B475516E}"/>
                </a:ext>
              </a:extLst>
            </p:cNvPr>
            <p:cNvSpPr txBox="1"/>
            <p:nvPr/>
          </p:nvSpPr>
          <p:spPr>
            <a:xfrm>
              <a:off x="7054502" y="1156830"/>
              <a:ext cx="1832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</a:t>
              </a:r>
              <a:r>
                <a:rPr lang="en-VN" b="1" baseline="-25000" dirty="0"/>
                <a:t>sed</a:t>
              </a:r>
              <a:r>
                <a:rPr lang="en-VN" b="1" dirty="0"/>
                <a:t> = 1.0 – 1.2</a:t>
              </a:r>
            </a:p>
          </p:txBody>
        </p:sp>
      </p:grpSp>
      <p:sp>
        <p:nvSpPr>
          <p:cNvPr id="123" name="Footer Placeholder 122">
            <a:extLst>
              <a:ext uri="{FF2B5EF4-FFF2-40B4-BE49-F238E27FC236}">
                <a16:creationId xmlns:a16="http://schemas.microsoft.com/office/drawing/2014/main" id="{55256A12-AA9F-F745-9310-4826EC6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23117"/>
            <a:ext cx="4114800" cy="365125"/>
          </a:xfrm>
        </p:spPr>
        <p:txBody>
          <a:bodyPr/>
          <a:lstStyle/>
          <a:p>
            <a:r>
              <a:rPr lang="en-US"/>
              <a:t>Nguyen Fuda - Pole-to-equator Divergences</a:t>
            </a:r>
            <a:endParaRPr lang="en-VN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D2A56FE-DB08-B249-9E7F-3160346C2256}"/>
              </a:ext>
            </a:extLst>
          </p:cNvPr>
          <p:cNvSpPr txBox="1"/>
          <p:nvPr/>
        </p:nvSpPr>
        <p:spPr>
          <a:xfrm>
            <a:off x="331572" y="1255621"/>
            <a:ext cx="1990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600" dirty="0"/>
              <a:t>(Fuda in prep. 2026)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327F2D4-7B0B-7F48-8E46-F57E43C281E9}"/>
              </a:ext>
            </a:extLst>
          </p:cNvPr>
          <p:cNvSpPr txBox="1"/>
          <p:nvPr/>
        </p:nvSpPr>
        <p:spPr>
          <a:xfrm>
            <a:off x="3642329" y="2471079"/>
            <a:ext cx="163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/>
              <a:t>2D Motivated Circulation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E65CC-62ED-BA4C-860A-4BE4CBBF5E29}"/>
              </a:ext>
            </a:extLst>
          </p:cNvPr>
          <p:cNvSpPr txBox="1"/>
          <p:nvPr/>
        </p:nvSpPr>
        <p:spPr>
          <a:xfrm>
            <a:off x="5486824" y="1240198"/>
            <a:ext cx="333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VN" dirty="0"/>
              <a:t>ach of these is a spectra!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986A4B-077C-8248-B366-04B15A21A2A6}"/>
              </a:ext>
            </a:extLst>
          </p:cNvPr>
          <p:cNvCxnSpPr/>
          <p:nvPr/>
        </p:nvCxnSpPr>
        <p:spPr>
          <a:xfrm flipH="1">
            <a:off x="4438353" y="1548273"/>
            <a:ext cx="1059867" cy="384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1B377CE-53DC-DA48-9DE7-AF12DDE68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06" y="4695463"/>
            <a:ext cx="6030016" cy="172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4107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94026-9CBA-B642-9909-5BE6289E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0BEAB-9C4F-4142-A194-9126ABA60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0365" y="3825761"/>
            <a:ext cx="10307655" cy="2232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008BC3-7F17-1542-B070-54DC46A47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744" y="1412982"/>
            <a:ext cx="10356895" cy="2412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2DB44-382D-2341-BEBA-1C456745E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848" y="136525"/>
            <a:ext cx="4210688" cy="12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99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3D84F7D-7DAB-1042-A93A-56F69C7D08E1}"/>
              </a:ext>
            </a:extLst>
          </p:cNvPr>
          <p:cNvSpPr txBox="1"/>
          <p:nvPr/>
        </p:nvSpPr>
        <p:spPr>
          <a:xfrm>
            <a:off x="1316847" y="233626"/>
            <a:ext cx="9738343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 dirty="0">
                <a:solidFill>
                  <a:srgbClr val="FFFF00"/>
                </a:solidFill>
                <a:latin typeface="Helvetica" pitchFamily="2" charset="0"/>
              </a:rPr>
              <a:t>Simulated spectral timeseries consistent with observations</a:t>
            </a:r>
            <a:endParaRPr lang="en-VN" sz="1400" dirty="0">
              <a:latin typeface="Helvetica" pitchFamily="2" charset="0"/>
            </a:endParaRPr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8E1207E9-A521-6046-A833-6F2D19B0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5996"/>
            <a:ext cx="4114800" cy="365125"/>
          </a:xfrm>
        </p:spPr>
        <p:txBody>
          <a:bodyPr/>
          <a:lstStyle/>
          <a:p>
            <a:r>
              <a:rPr lang="en-US"/>
              <a:t>Nguyen Fuda - Pole-to-equator Divergences</a:t>
            </a:r>
            <a:endParaRPr lang="en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7D8C2-7442-6046-9EE6-A1AA2BD4C47C}"/>
              </a:ext>
            </a:extLst>
          </p:cNvPr>
          <p:cNvSpPr txBox="1"/>
          <p:nvPr/>
        </p:nvSpPr>
        <p:spPr>
          <a:xfrm>
            <a:off x="2164980" y="689025"/>
            <a:ext cx="8042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 dirty="0"/>
              <a:t>Variability &amp; colors vs inclination trends: </a:t>
            </a:r>
            <a:r>
              <a:rPr lang="en-VN" dirty="0"/>
              <a:t>consistent with field BDs (Vos et al. 2020)</a:t>
            </a:r>
            <a:endParaRPr lang="en-VN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8C5BD0D-729A-5E44-A8A8-410BB2478283}"/>
              </a:ext>
            </a:extLst>
          </p:cNvPr>
          <p:cNvGrpSpPr/>
          <p:nvPr/>
        </p:nvGrpSpPr>
        <p:grpSpPr>
          <a:xfrm>
            <a:off x="6455326" y="1388198"/>
            <a:ext cx="5582966" cy="5107262"/>
            <a:chOff x="6321512" y="1368734"/>
            <a:chExt cx="5582966" cy="51072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9B324D7-FD00-A345-8570-48F77CD6A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21512" y="1368734"/>
              <a:ext cx="5582966" cy="442787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0C8F5E-2FEC-DB4D-ACC6-6D9FC623E2C9}"/>
                </a:ext>
              </a:extLst>
            </p:cNvPr>
            <p:cNvSpPr txBox="1"/>
            <p:nvPr/>
          </p:nvSpPr>
          <p:spPr>
            <a:xfrm>
              <a:off x="7289178" y="5829665"/>
              <a:ext cx="44196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Variability v. inclination </a:t>
              </a:r>
              <a:r>
                <a:rPr lang="en-VN" b="1" dirty="0"/>
                <a:t>points to higher amplitude from the equatorial atmosphere</a:t>
              </a:r>
              <a:endParaRPr lang="en-VN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001A021-A62F-C346-8673-1208B9CFFDE7}"/>
              </a:ext>
            </a:extLst>
          </p:cNvPr>
          <p:cNvSpPr txBox="1"/>
          <p:nvPr/>
        </p:nvSpPr>
        <p:spPr>
          <a:xfrm>
            <a:off x="5350374" y="6257324"/>
            <a:ext cx="1990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600" dirty="0"/>
              <a:t>(Fuda &amp; Apai 2024)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A3D2DD-C258-EB4A-A3A9-016B280C70E7}"/>
              </a:ext>
            </a:extLst>
          </p:cNvPr>
          <p:cNvGrpSpPr/>
          <p:nvPr/>
        </p:nvGrpSpPr>
        <p:grpSpPr>
          <a:xfrm>
            <a:off x="153708" y="1491347"/>
            <a:ext cx="5310446" cy="5191736"/>
            <a:chOff x="153708" y="1284260"/>
            <a:chExt cx="5310446" cy="51917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6E7168-7180-FA40-A2F2-A5D665595724}"/>
                </a:ext>
              </a:extLst>
            </p:cNvPr>
            <p:cNvSpPr txBox="1"/>
            <p:nvPr/>
          </p:nvSpPr>
          <p:spPr>
            <a:xfrm>
              <a:off x="1081667" y="5829665"/>
              <a:ext cx="42040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Color v. inclination </a:t>
              </a:r>
              <a:r>
                <a:rPr lang="en-VN" b="1" dirty="0"/>
                <a:t>can be explained with pole-to-equator cloud difference</a:t>
              </a:r>
              <a:endParaRPr lang="en-VN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22C01B-42CC-F64E-B36F-CAA61E24D18A}"/>
                </a:ext>
              </a:extLst>
            </p:cNvPr>
            <p:cNvGrpSpPr/>
            <p:nvPr/>
          </p:nvGrpSpPr>
          <p:grpSpPr>
            <a:xfrm>
              <a:off x="153708" y="1284260"/>
              <a:ext cx="5310446" cy="4512344"/>
              <a:chOff x="153708" y="1284260"/>
              <a:chExt cx="5310446" cy="451234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C4E524E-4317-E441-B8B2-5669EBBC0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53708" y="1284260"/>
                <a:ext cx="5310446" cy="4512344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91FDE6C-CE37-694E-A828-5916B23A3793}"/>
                  </a:ext>
                </a:extLst>
              </p:cNvPr>
              <p:cNvSpPr/>
              <p:nvPr/>
            </p:nvSpPr>
            <p:spPr>
              <a:xfrm>
                <a:off x="970157" y="2297151"/>
                <a:ext cx="1194824" cy="52410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92F8D67-0810-544D-847D-814D3B46B796}"/>
                  </a:ext>
                </a:extLst>
              </p:cNvPr>
              <p:cNvSpPr/>
              <p:nvPr/>
            </p:nvSpPr>
            <p:spPr>
              <a:xfrm>
                <a:off x="1567568" y="2526051"/>
                <a:ext cx="1194824" cy="52410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0E6C0F7-6F0E-EF4B-9BC2-239B9CA42E28}"/>
                  </a:ext>
                </a:extLst>
              </p:cNvPr>
              <p:cNvSpPr/>
              <p:nvPr/>
            </p:nvSpPr>
            <p:spPr>
              <a:xfrm rot="2590676">
                <a:off x="3437549" y="3941196"/>
                <a:ext cx="649297" cy="1159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975E937-A177-E846-B065-EA95A1B25C8C}"/>
                  </a:ext>
                </a:extLst>
              </p:cNvPr>
              <p:cNvSpPr/>
              <p:nvPr/>
            </p:nvSpPr>
            <p:spPr>
              <a:xfrm rot="2590676">
                <a:off x="4008617" y="4471421"/>
                <a:ext cx="649297" cy="1159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3C8123D-C63B-4F44-AC38-E2F8287DF4B4}"/>
                  </a:ext>
                </a:extLst>
              </p:cNvPr>
              <p:cNvSpPr/>
              <p:nvPr/>
            </p:nvSpPr>
            <p:spPr>
              <a:xfrm>
                <a:off x="4550029" y="4636448"/>
                <a:ext cx="800345" cy="4764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2FE21D2-2095-374D-8239-DE3938EFAFBD}"/>
                  </a:ext>
                </a:extLst>
              </p:cNvPr>
              <p:cNvSpPr/>
              <p:nvPr/>
            </p:nvSpPr>
            <p:spPr>
              <a:xfrm rot="2590676">
                <a:off x="2395377" y="2951769"/>
                <a:ext cx="649297" cy="1159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28EAD75-9D02-7446-9075-D7E081557CC3}"/>
                  </a:ext>
                </a:extLst>
              </p:cNvPr>
              <p:cNvSpPr/>
              <p:nvPr/>
            </p:nvSpPr>
            <p:spPr>
              <a:xfrm rot="2590676">
                <a:off x="3064945" y="3398909"/>
                <a:ext cx="288210" cy="14884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4257F404-DBB4-D649-BB27-42BB64AEEA33}"/>
              </a:ext>
            </a:extLst>
          </p:cNvPr>
          <p:cNvSpPr/>
          <p:nvPr/>
        </p:nvSpPr>
        <p:spPr>
          <a:xfrm>
            <a:off x="2443622" y="1706246"/>
            <a:ext cx="1042172" cy="1404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655B65-AC1F-914C-9DEE-CC8B9DDF9F8F}"/>
              </a:ext>
            </a:extLst>
          </p:cNvPr>
          <p:cNvSpPr/>
          <p:nvPr/>
        </p:nvSpPr>
        <p:spPr>
          <a:xfrm>
            <a:off x="7130778" y="1776452"/>
            <a:ext cx="1042172" cy="14041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10EEFD-195F-B64F-960A-3ADBEC048CB0}"/>
              </a:ext>
            </a:extLst>
          </p:cNvPr>
          <p:cNvSpPr txBox="1"/>
          <p:nvPr/>
        </p:nvSpPr>
        <p:spPr>
          <a:xfrm>
            <a:off x="3440575" y="1030315"/>
            <a:ext cx="5490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/>
              <a:t>(Will have updated version in Fuda et al. 2026 in prep)</a:t>
            </a:r>
          </a:p>
        </p:txBody>
      </p:sp>
    </p:spTree>
    <p:extLst>
      <p:ext uri="{BB962C8B-B14F-4D97-AF65-F5344CB8AC3E}">
        <p14:creationId xmlns:p14="http://schemas.microsoft.com/office/powerpoint/2010/main" val="34590758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3D84F7D-7DAB-1042-A93A-56F69C7D08E1}"/>
              </a:ext>
            </a:extLst>
          </p:cNvPr>
          <p:cNvSpPr txBox="1"/>
          <p:nvPr/>
        </p:nvSpPr>
        <p:spPr>
          <a:xfrm>
            <a:off x="2341355" y="122222"/>
            <a:ext cx="7242032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 dirty="0">
                <a:solidFill>
                  <a:srgbClr val="FFFF00"/>
                </a:solidFill>
                <a:latin typeface="Helvetica" pitchFamily="2" charset="0"/>
              </a:rPr>
              <a:t>Simulated spectral timeseries w/ Maymo</a:t>
            </a:r>
            <a:endParaRPr lang="en-VN" sz="1400" dirty="0">
              <a:latin typeface="Helvetica" pitchFamily="2" charset="0"/>
            </a:endParaRPr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8E1207E9-A521-6046-A833-6F2D19B0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7750"/>
            <a:ext cx="4114800" cy="365125"/>
          </a:xfrm>
        </p:spPr>
        <p:txBody>
          <a:bodyPr/>
          <a:lstStyle/>
          <a:p>
            <a:r>
              <a:rPr lang="en-US"/>
              <a:t>Nguyen Fuda - Pole-to-equator Divergences</a:t>
            </a:r>
            <a:endParaRPr lang="en-V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0D5FAC-A5AB-7241-9D27-E64BD61EE907}"/>
              </a:ext>
            </a:extLst>
          </p:cNvPr>
          <p:cNvSpPr txBox="1"/>
          <p:nvPr/>
        </p:nvSpPr>
        <p:spPr>
          <a:xfrm>
            <a:off x="4995465" y="514019"/>
            <a:ext cx="1990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600" dirty="0"/>
              <a:t>(Fuda in prep. 2026)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A1861E2-82CC-354C-A9F5-3D63C74518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857" r="50000" b="50000"/>
          <a:stretch/>
        </p:blipFill>
        <p:spPr>
          <a:xfrm>
            <a:off x="8178629" y="1915707"/>
            <a:ext cx="3795093" cy="2758263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BA764018-CA36-6447-AD6D-650DD4F30072}"/>
              </a:ext>
            </a:extLst>
          </p:cNvPr>
          <p:cNvGrpSpPr/>
          <p:nvPr/>
        </p:nvGrpSpPr>
        <p:grpSpPr>
          <a:xfrm>
            <a:off x="2726033" y="1347987"/>
            <a:ext cx="5754167" cy="3821398"/>
            <a:chOff x="7355400" y="3133189"/>
            <a:chExt cx="5040229" cy="3347265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57ED1AD-514E-1A4D-949F-4234F5519E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0000" t="49257" r="74" b="743"/>
            <a:stretch/>
          </p:blipFill>
          <p:spPr>
            <a:xfrm>
              <a:off x="7355400" y="3133189"/>
              <a:ext cx="4776075" cy="3347265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2CE7454-CC31-1B44-B086-2D0600D7ECF9}"/>
                </a:ext>
              </a:extLst>
            </p:cNvPr>
            <p:cNvSpPr txBox="1"/>
            <p:nvPr/>
          </p:nvSpPr>
          <p:spPr>
            <a:xfrm>
              <a:off x="8734665" y="4135858"/>
              <a:ext cx="21894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 dirty="0">
                  <a:solidFill>
                    <a:srgbClr val="C34E4F"/>
                  </a:solidFill>
                </a:rPr>
                <a:t>Band spectral ratio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90A99CD-0167-8244-A39E-1373597CA8A5}"/>
                </a:ext>
              </a:extLst>
            </p:cNvPr>
            <p:cNvSpPr txBox="1"/>
            <p:nvPr/>
          </p:nvSpPr>
          <p:spPr>
            <a:xfrm>
              <a:off x="10206219" y="4838490"/>
              <a:ext cx="21894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sz="1600" b="1" dirty="0">
                  <a:solidFill>
                    <a:srgbClr val="7070E4"/>
                  </a:solidFill>
                </a:rPr>
                <a:t>Polar spectral ratio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AF23C23-386F-9946-BD03-B298F66BE151}"/>
              </a:ext>
            </a:extLst>
          </p:cNvPr>
          <p:cNvSpPr txBox="1"/>
          <p:nvPr/>
        </p:nvSpPr>
        <p:spPr>
          <a:xfrm>
            <a:off x="4441131" y="5320300"/>
            <a:ext cx="6676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Simple methods (eg. PCA with a bandpass filter separating short vs long-period variation) can distinguish a long-period polar spectra vs. short-period band spectra </a:t>
            </a:r>
            <a:r>
              <a:rPr lang="en-VN" b="1" i="1" dirty="0"/>
              <a:t>in one BD.</a:t>
            </a:r>
            <a:r>
              <a:rPr lang="en-VN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699593-2C19-CE4E-B257-350240A209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882" r="24772"/>
          <a:stretch/>
        </p:blipFill>
        <p:spPr>
          <a:xfrm>
            <a:off x="429111" y="793787"/>
            <a:ext cx="2195095" cy="26938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C58FA0-5D52-7D44-9645-F2E125FFCDBA}"/>
              </a:ext>
            </a:extLst>
          </p:cNvPr>
          <p:cNvSpPr txBox="1"/>
          <p:nvPr/>
        </p:nvSpPr>
        <p:spPr>
          <a:xfrm>
            <a:off x="547825" y="3869394"/>
            <a:ext cx="23260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Spectral ratio = spectra at max / min flux</a:t>
            </a:r>
          </a:p>
          <a:p>
            <a:endParaRPr lang="en-US" dirty="0"/>
          </a:p>
          <a:p>
            <a:r>
              <a:rPr lang="en-US" dirty="0"/>
              <a:t>Polar ratio less than bands because less of it is visible at </a:t>
            </a:r>
            <a:r>
              <a:rPr lang="en-US" dirty="0" err="1"/>
              <a:t>i</a:t>
            </a:r>
            <a:r>
              <a:rPr lang="en-US" dirty="0"/>
              <a:t>=50.</a:t>
            </a:r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69DBA-CED9-C347-B345-3EE40B9A7A13}"/>
              </a:ext>
            </a:extLst>
          </p:cNvPr>
          <p:cNvSpPr txBox="1"/>
          <p:nvPr/>
        </p:nvSpPr>
        <p:spPr>
          <a:xfrm>
            <a:off x="7449423" y="1431085"/>
            <a:ext cx="879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/>
              <a:t>at </a:t>
            </a:r>
            <a:r>
              <a:rPr lang="en-US" sz="1600" dirty="0" err="1"/>
              <a:t>i</a:t>
            </a:r>
            <a:r>
              <a:rPr lang="en-US" sz="1600" dirty="0"/>
              <a:t>=50</a:t>
            </a:r>
            <a:endParaRPr lang="en-VN" sz="1600" dirty="0"/>
          </a:p>
        </p:txBody>
      </p:sp>
    </p:spTree>
    <p:extLst>
      <p:ext uri="{BB962C8B-B14F-4D97-AF65-F5344CB8AC3E}">
        <p14:creationId xmlns:p14="http://schemas.microsoft.com/office/powerpoint/2010/main" val="25327876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3D84F7D-7DAB-1042-A93A-56F69C7D08E1}"/>
              </a:ext>
            </a:extLst>
          </p:cNvPr>
          <p:cNvSpPr txBox="1"/>
          <p:nvPr/>
        </p:nvSpPr>
        <p:spPr>
          <a:xfrm>
            <a:off x="2341355" y="122222"/>
            <a:ext cx="7242032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 sz="2400" b="1" dirty="0">
                <a:solidFill>
                  <a:srgbClr val="FFFF00"/>
                </a:solidFill>
                <a:latin typeface="Helvetica" pitchFamily="2" charset="0"/>
              </a:rPr>
              <a:t>Simulated spectral timeseries w/ Maymo</a:t>
            </a:r>
            <a:endParaRPr lang="en-VN" sz="1400" dirty="0">
              <a:latin typeface="Helvetica" pitchFamily="2" charset="0"/>
            </a:endParaRPr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8E1207E9-A521-6046-A833-6F2D19B0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7750"/>
            <a:ext cx="4114800" cy="365125"/>
          </a:xfrm>
        </p:spPr>
        <p:txBody>
          <a:bodyPr/>
          <a:lstStyle/>
          <a:p>
            <a:r>
              <a:rPr lang="en-US"/>
              <a:t>Nguyen Fuda - Pole-to-equator Divergences</a:t>
            </a:r>
            <a:endParaRPr lang="en-V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0D5FAC-A5AB-7241-9D27-E64BD61EE907}"/>
              </a:ext>
            </a:extLst>
          </p:cNvPr>
          <p:cNvSpPr txBox="1"/>
          <p:nvPr/>
        </p:nvSpPr>
        <p:spPr>
          <a:xfrm>
            <a:off x="4995465" y="514019"/>
            <a:ext cx="1990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600" dirty="0"/>
              <a:t>(Fuda in prep. 2026)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F23C23-386F-9946-BD03-B298F66BE151}"/>
              </a:ext>
            </a:extLst>
          </p:cNvPr>
          <p:cNvSpPr txBox="1"/>
          <p:nvPr/>
        </p:nvSpPr>
        <p:spPr>
          <a:xfrm>
            <a:off x="4441131" y="5320300"/>
            <a:ext cx="6676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Simple methods (eg. PCA with a bandpass filter separating short vs long-period variation) can distinguish a long-period polar spectra vs. short-period band spectra </a:t>
            </a:r>
            <a:r>
              <a:rPr lang="en-VN" b="1" i="1" dirty="0"/>
              <a:t>in one BD.</a:t>
            </a:r>
            <a:r>
              <a:rPr lang="en-VN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699593-2C19-CE4E-B257-350240A20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54" t="-61" r="50000" b="61"/>
          <a:stretch/>
        </p:blipFill>
        <p:spPr>
          <a:xfrm>
            <a:off x="429111" y="793787"/>
            <a:ext cx="2195095" cy="26938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C58FA0-5D52-7D44-9645-F2E125FFCDBA}"/>
              </a:ext>
            </a:extLst>
          </p:cNvPr>
          <p:cNvSpPr txBox="1"/>
          <p:nvPr/>
        </p:nvSpPr>
        <p:spPr>
          <a:xfrm>
            <a:off x="547825" y="3869394"/>
            <a:ext cx="20763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Spectral ratio = spectra at max / min flux</a:t>
            </a:r>
          </a:p>
          <a:p>
            <a:endParaRPr lang="en-US" dirty="0"/>
          </a:p>
          <a:p>
            <a:r>
              <a:rPr lang="en-US" dirty="0"/>
              <a:t>Polar ratio gets higher because more of it is visible compared to </a:t>
            </a:r>
            <a:r>
              <a:rPr lang="en-US" dirty="0" err="1"/>
              <a:t>i</a:t>
            </a:r>
            <a:r>
              <a:rPr lang="en-US" dirty="0"/>
              <a:t>=50.</a:t>
            </a: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96227-8EEC-8344-BEA5-B9BF84CCD9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r="47769" b="50130"/>
          <a:stretch/>
        </p:blipFill>
        <p:spPr>
          <a:xfrm>
            <a:off x="7897091" y="1852164"/>
            <a:ext cx="4108862" cy="27079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E616E1-4EB6-8E44-AD20-697B5E34F9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51753" t="49755" r="-505" b="375"/>
          <a:stretch/>
        </p:blipFill>
        <p:spPr>
          <a:xfrm>
            <a:off x="2804913" y="1344062"/>
            <a:ext cx="5348487" cy="37765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2F8115-D3EB-1445-9C95-58E30F7291C0}"/>
              </a:ext>
            </a:extLst>
          </p:cNvPr>
          <p:cNvSpPr txBox="1"/>
          <p:nvPr/>
        </p:nvSpPr>
        <p:spPr>
          <a:xfrm>
            <a:off x="4300668" y="2492682"/>
            <a:ext cx="2499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b="1" dirty="0">
                <a:solidFill>
                  <a:srgbClr val="01AFB4"/>
                </a:solidFill>
              </a:rPr>
              <a:t>Band spectral ratio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D6785B-4ACC-D74F-9059-936881676FCF}"/>
              </a:ext>
            </a:extLst>
          </p:cNvPr>
          <p:cNvSpPr txBox="1"/>
          <p:nvPr/>
        </p:nvSpPr>
        <p:spPr>
          <a:xfrm>
            <a:off x="5980665" y="3294840"/>
            <a:ext cx="2499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b="1" dirty="0">
                <a:solidFill>
                  <a:srgbClr val="B8B800"/>
                </a:solidFill>
              </a:rPr>
              <a:t>Polar spectral ratio</a:t>
            </a:r>
          </a:p>
        </p:txBody>
      </p:sp>
    </p:spTree>
    <p:extLst>
      <p:ext uri="{BB962C8B-B14F-4D97-AF65-F5344CB8AC3E}">
        <p14:creationId xmlns:p14="http://schemas.microsoft.com/office/powerpoint/2010/main" val="40219388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NASA's Juno Mission Spies Vortices Near Jupiter's North Pole | NASA Jet  Propulsion Laboratory (JPL)">
            <a:extLst>
              <a:ext uri="{FF2B5EF4-FFF2-40B4-BE49-F238E27FC236}">
                <a16:creationId xmlns:a16="http://schemas.microsoft.com/office/drawing/2014/main" id="{4A6ABBA8-82B0-0146-BAB3-62575A9A0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1789"/>
          <a:stretch/>
        </p:blipFill>
        <p:spPr bwMode="auto">
          <a:xfrm rot="5400000">
            <a:off x="900538" y="204104"/>
            <a:ext cx="5821473" cy="748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1AB13575-A5FB-834F-BB00-83F95C83BAFB}"/>
              </a:ext>
            </a:extLst>
          </p:cNvPr>
          <p:cNvSpPr txBox="1"/>
          <p:nvPr/>
        </p:nvSpPr>
        <p:spPr>
          <a:xfrm>
            <a:off x="166009" y="658597"/>
            <a:ext cx="734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/>
              <a:t>Jupiter’s poles undergoes complex + dynamic evolution in cloud coverages!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1C8C1-463A-B94B-B2B2-C21C92227DCF}"/>
              </a:ext>
            </a:extLst>
          </p:cNvPr>
          <p:cNvSpPr txBox="1"/>
          <p:nvPr/>
        </p:nvSpPr>
        <p:spPr>
          <a:xfrm>
            <a:off x="2133946" y="165663"/>
            <a:ext cx="7590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000" b="1" dirty="0">
                <a:solidFill>
                  <a:srgbClr val="FFFF00"/>
                </a:solidFill>
                <a:latin typeface="Helvetica" pitchFamily="2" charset="0"/>
              </a:rPr>
              <a:t>Simulating Polar Dynamics: Inspiration from Juno/Jupiter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5668EF6-2399-1340-899D-C66EF17C8DF2}"/>
              </a:ext>
            </a:extLst>
          </p:cNvPr>
          <p:cNvCxnSpPr>
            <a:cxnSpLocks/>
          </p:cNvCxnSpPr>
          <p:nvPr/>
        </p:nvCxnSpPr>
        <p:spPr>
          <a:xfrm>
            <a:off x="7567122" y="693714"/>
            <a:ext cx="0" cy="61936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ooter Placeholder 61">
            <a:extLst>
              <a:ext uri="{FF2B5EF4-FFF2-40B4-BE49-F238E27FC236}">
                <a16:creationId xmlns:a16="http://schemas.microsoft.com/office/drawing/2014/main" id="{881B79FE-174C-2D44-A6E0-5D104FBC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629" y="6522265"/>
            <a:ext cx="4114800" cy="365125"/>
          </a:xfrm>
        </p:spPr>
        <p:txBody>
          <a:bodyPr/>
          <a:lstStyle/>
          <a:p>
            <a:r>
              <a:rPr lang="en-US"/>
              <a:t>Nguyen Fuda - Pole-to-equator Divergences</a:t>
            </a:r>
            <a:endParaRPr lang="en-VN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2422D54-2412-D940-A263-AC94531CD9D0}"/>
              </a:ext>
            </a:extLst>
          </p:cNvPr>
          <p:cNvGrpSpPr/>
          <p:nvPr/>
        </p:nvGrpSpPr>
        <p:grpSpPr>
          <a:xfrm>
            <a:off x="960836" y="2424899"/>
            <a:ext cx="5579292" cy="2905265"/>
            <a:chOff x="831741" y="1419077"/>
            <a:chExt cx="5579292" cy="290526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8CAFC6-8740-FA42-8300-5CC66491A37A}"/>
                </a:ext>
              </a:extLst>
            </p:cNvPr>
            <p:cNvSpPr txBox="1"/>
            <p:nvPr/>
          </p:nvSpPr>
          <p:spPr>
            <a:xfrm>
              <a:off x="1148577" y="4016565"/>
              <a:ext cx="4946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400" b="1" dirty="0"/>
                <a:t>Juno Jupiter South Pole, JIRAM 3-5um Adriani et al. 2020</a:t>
              </a: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007D4A8-1CF8-FE42-AFA7-D69B3D211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678" t="6591" r="54737" b="53080"/>
            <a:stretch/>
          </p:blipFill>
          <p:spPr>
            <a:xfrm>
              <a:off x="831741" y="1419077"/>
              <a:ext cx="2474397" cy="2551009"/>
            </a:xfrm>
            <a:prstGeom prst="ellipse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3AED80EB-8449-CF4A-9A36-D3BF3AD7F3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4523" t="7674" r="5893" b="53865"/>
            <a:stretch/>
          </p:blipFill>
          <p:spPr>
            <a:xfrm>
              <a:off x="3904810" y="1442062"/>
              <a:ext cx="2506223" cy="2464099"/>
            </a:xfrm>
            <a:prstGeom prst="ellipse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696930-F881-E344-B7B5-0C42D4EAF204}"/>
              </a:ext>
            </a:extLst>
          </p:cNvPr>
          <p:cNvGrpSpPr/>
          <p:nvPr/>
        </p:nvGrpSpPr>
        <p:grpSpPr>
          <a:xfrm>
            <a:off x="7632740" y="368135"/>
            <a:ext cx="4705722" cy="6519254"/>
            <a:chOff x="7632740" y="368135"/>
            <a:chExt cx="4705722" cy="65192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963D3A-AA7B-554A-9DD7-01630232C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2740" y="565772"/>
              <a:ext cx="4415897" cy="632161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7F193A-72B9-6D41-8352-50372E2F3D54}"/>
                </a:ext>
              </a:extLst>
            </p:cNvPr>
            <p:cNvSpPr/>
            <p:nvPr/>
          </p:nvSpPr>
          <p:spPr>
            <a:xfrm>
              <a:off x="10643808" y="368135"/>
              <a:ext cx="1694654" cy="18079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835ECC-3A3B-CA40-8B2C-FE50E5A7392E}"/>
              </a:ext>
            </a:extLst>
          </p:cNvPr>
          <p:cNvGrpSpPr/>
          <p:nvPr/>
        </p:nvGrpSpPr>
        <p:grpSpPr>
          <a:xfrm>
            <a:off x="10716834" y="85024"/>
            <a:ext cx="1535436" cy="1598026"/>
            <a:chOff x="2526284" y="2250440"/>
            <a:chExt cx="1666240" cy="1734415"/>
          </a:xfrm>
        </p:grpSpPr>
        <p:pic>
          <p:nvPicPr>
            <p:cNvPr id="2050" name="Picture 2" descr="Aakanksha Adya - Infosys InStep Intern || Physics Major at the University  of Arizona | LinkedIn">
              <a:extLst>
                <a:ext uri="{FF2B5EF4-FFF2-40B4-BE49-F238E27FC236}">
                  <a16:creationId xmlns:a16="http://schemas.microsoft.com/office/drawing/2014/main" id="{49172DE6-13E8-9B46-BAD2-13A9E9BC6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8016" y="2250440"/>
              <a:ext cx="1303528" cy="1303528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A4EA36-436D-FB45-9116-5E99154323FA}"/>
                </a:ext>
              </a:extLst>
            </p:cNvPr>
            <p:cNvSpPr txBox="1"/>
            <p:nvPr/>
          </p:nvSpPr>
          <p:spPr>
            <a:xfrm>
              <a:off x="2526284" y="3553968"/>
              <a:ext cx="1666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100" dirty="0"/>
                <a:t>Aakanksha Adya, </a:t>
              </a:r>
            </a:p>
            <a:p>
              <a:pPr algn="ctr"/>
              <a:r>
                <a:rPr lang="en-VN" sz="1100" dirty="0"/>
                <a:t>UA Undergrad</a:t>
              </a:r>
            </a:p>
          </p:txBody>
        </p:sp>
      </p:grp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6CC3431-15FF-0D48-A16A-3CEE3A86D1B1}"/>
              </a:ext>
            </a:extLst>
          </p:cNvPr>
          <p:cNvSpPr/>
          <p:nvPr/>
        </p:nvSpPr>
        <p:spPr>
          <a:xfrm>
            <a:off x="10716834" y="-339679"/>
            <a:ext cx="1828800" cy="2121408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2912161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B1DC8-D917-1842-AEAA-32EBEA81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Fuda - Pole-to-equator Divergences</a:t>
            </a:r>
            <a:endParaRPr lang="en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9F855-F56E-5F4E-8166-321B0E87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20" y="857966"/>
            <a:ext cx="11370422" cy="4886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9EA6D-D8F8-D144-8A39-27A70E1EE424}"/>
              </a:ext>
            </a:extLst>
          </p:cNvPr>
          <p:cNvSpPr txBox="1"/>
          <p:nvPr/>
        </p:nvSpPr>
        <p:spPr>
          <a:xfrm>
            <a:off x="1641262" y="320948"/>
            <a:ext cx="9135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 b="1" dirty="0">
                <a:solidFill>
                  <a:srgbClr val="FFFF00"/>
                </a:solidFill>
                <a:latin typeface="Helvetica" pitchFamily="2" charset="0"/>
              </a:rPr>
              <a:t>Simulating Polar Dynamics: Inspiration from Juno/Jupiter</a:t>
            </a:r>
          </a:p>
        </p:txBody>
      </p:sp>
    </p:spTree>
    <p:extLst>
      <p:ext uri="{BB962C8B-B14F-4D97-AF65-F5344CB8AC3E}">
        <p14:creationId xmlns:p14="http://schemas.microsoft.com/office/powerpoint/2010/main" val="1566504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D28A03-4969-1A42-A287-7FF6D712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t="48594"/>
          <a:stretch/>
        </p:blipFill>
        <p:spPr>
          <a:xfrm>
            <a:off x="4310743" y="4418076"/>
            <a:ext cx="5478483" cy="2439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961C3-C82E-7D49-99EC-C4F459C1F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02774" y="154975"/>
            <a:ext cx="7386452" cy="4263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C0A8E4-5F20-2148-ABC9-DF1F11505F75}"/>
              </a:ext>
            </a:extLst>
          </p:cNvPr>
          <p:cNvSpPr txBox="1"/>
          <p:nvPr/>
        </p:nvSpPr>
        <p:spPr>
          <a:xfrm>
            <a:off x="383968" y="1508166"/>
            <a:ext cx="20188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dirty="0">
                <a:solidFill>
                  <a:srgbClr val="FFFF00"/>
                </a:solidFill>
              </a:rPr>
              <a:t>Lightcurve Galore!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076-5F1F-8844-A8E1-C9832122F50B}"/>
              </a:ext>
            </a:extLst>
          </p:cNvPr>
          <p:cNvSpPr txBox="1"/>
          <p:nvPr/>
        </p:nvSpPr>
        <p:spPr>
          <a:xfrm>
            <a:off x="383968" y="2585384"/>
            <a:ext cx="1990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600" dirty="0"/>
              <a:t>(Fuda in prep. 2026)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887337-64AD-334E-AA1F-1AADA5B76F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5569"/>
          <a:stretch/>
        </p:blipFill>
        <p:spPr>
          <a:xfrm>
            <a:off x="2717352" y="4260743"/>
            <a:ext cx="1138838" cy="1161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AC1108-C857-B448-8A01-889495C2B6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3602" y="5564909"/>
            <a:ext cx="1189628" cy="116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3791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40856</TotalTime>
  <Words>387</Words>
  <Application>Microsoft Macintosh PowerPoint</Application>
  <PresentationFormat>Widescreen</PresentationFormat>
  <Paragraphs>49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Microsoft Office User</cp:lastModifiedBy>
  <cp:revision>80</cp:revision>
  <dcterms:created xsi:type="dcterms:W3CDTF">2024-06-23T18:22:07Z</dcterms:created>
  <dcterms:modified xsi:type="dcterms:W3CDTF">2026-03-21T19:04:47Z</dcterms:modified>
  <cp:category/>
</cp:coreProperties>
</file>