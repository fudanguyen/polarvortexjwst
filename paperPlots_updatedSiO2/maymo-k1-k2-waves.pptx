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sldIdLst>
    <p:sldId id="354" r:id="rId2"/>
  </p:sldIdLst>
  <p:sldSz cx="13679488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56"/>
    <p:restoredTop sz="95946"/>
  </p:normalViewPr>
  <p:slideViewPr>
    <p:cSldViewPr snapToGrid="0" snapToObjects="1">
      <p:cViewPr varScale="1">
        <p:scale>
          <a:sx n="112" d="100"/>
          <a:sy n="112" d="100"/>
        </p:scale>
        <p:origin x="35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9936" y="1060529"/>
            <a:ext cx="1025961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936" y="3403592"/>
            <a:ext cx="1025961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1/9/26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57917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1/9/26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5905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340" y="1615545"/>
            <a:ext cx="11798558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340" y="4336618"/>
            <a:ext cx="11798558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1/9/26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20212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0465" y="1725046"/>
            <a:ext cx="5813782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5241" y="1725046"/>
            <a:ext cx="5813782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1/9/26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7271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345010"/>
            <a:ext cx="11798558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247" y="1588543"/>
            <a:ext cx="5787064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247" y="2367064"/>
            <a:ext cx="5787064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25241" y="1588543"/>
            <a:ext cx="5815564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25241" y="2367064"/>
            <a:ext cx="5815564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1/9/26</a:t>
            </a:fld>
            <a:endParaRPr lang="en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04700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1/9/26</a:t>
            </a:fld>
            <a:endParaRPr lang="en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46549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1/9/26</a:t>
            </a:fld>
            <a:endParaRPr lang="en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66001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432012"/>
            <a:ext cx="4411991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5564" y="933026"/>
            <a:ext cx="6925241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247" y="1944052"/>
            <a:ext cx="4411991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1/9/26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965071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247" y="432012"/>
            <a:ext cx="4411991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15564" y="933026"/>
            <a:ext cx="6925241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247" y="1944052"/>
            <a:ext cx="4411991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1/9/26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02298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1/9/26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29571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89383" y="345009"/>
            <a:ext cx="2949640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0465" y="345009"/>
            <a:ext cx="8677925" cy="5491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7CEA-3643-DE48-A4E8-C42FCF65A0A6}" type="datetimeFigureOut">
              <a:rPr lang="en-VN" smtClean="0"/>
              <a:t>1/9/26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6617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0465" y="345010"/>
            <a:ext cx="11798558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0465" y="1725046"/>
            <a:ext cx="11798558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0465" y="6006163"/>
            <a:ext cx="307788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27CEA-3643-DE48-A4E8-C42FCF65A0A6}" type="datetimeFigureOut">
              <a:rPr lang="en-VN" smtClean="0"/>
              <a:t>1/9/26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31331" y="6006163"/>
            <a:ext cx="4616827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61138" y="6006163"/>
            <a:ext cx="307788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6B610-EBE2-D341-8D2D-7A9992F68DB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9477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79E6410-367F-9F48-BA47-95B04190970C}"/>
              </a:ext>
            </a:extLst>
          </p:cNvPr>
          <p:cNvGrpSpPr/>
          <p:nvPr/>
        </p:nvGrpSpPr>
        <p:grpSpPr>
          <a:xfrm>
            <a:off x="784235" y="969411"/>
            <a:ext cx="7688967" cy="4152590"/>
            <a:chOff x="621184" y="-406899"/>
            <a:chExt cx="5017132" cy="270960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88722AA-EE82-EB49-AA64-415341BEA069}"/>
                </a:ext>
              </a:extLst>
            </p:cNvPr>
            <p:cNvSpPr txBox="1"/>
            <p:nvPr/>
          </p:nvSpPr>
          <p:spPr>
            <a:xfrm>
              <a:off x="2598582" y="1493812"/>
              <a:ext cx="2457145" cy="429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tabLst>
                  <a:tab pos="1462088" algn="l"/>
                </a:tabLst>
              </a:pPr>
              <a:r>
                <a:rPr lang="en-US" sz="1839" b="1" i="1" dirty="0"/>
                <a:t>k=</a:t>
              </a:r>
              <a:r>
                <a:rPr lang="en-VN" sz="1839" b="1" i="1" dirty="0"/>
                <a:t>2 waves: </a:t>
              </a:r>
              <a:r>
                <a:rPr lang="en-VN" sz="1839" dirty="0"/>
                <a:t>thinner, mid-latitude clouds?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8A2AD25-460B-8543-8B8B-DBEFE964DFBA}"/>
                </a:ext>
              </a:extLst>
            </p:cNvPr>
            <p:cNvSpPr txBox="1"/>
            <p:nvPr/>
          </p:nvSpPr>
          <p:spPr>
            <a:xfrm>
              <a:off x="2879416" y="982368"/>
              <a:ext cx="2046286" cy="429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39" b="1" i="1" dirty="0"/>
                <a:t>k=</a:t>
              </a:r>
              <a:r>
                <a:rPr lang="en-VN" sz="1839" b="1" i="1" dirty="0"/>
                <a:t>1 waves: </a:t>
              </a:r>
              <a:r>
                <a:rPr lang="en-VN" sz="1839" dirty="0"/>
                <a:t>thicker equatorial clouds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97824F6-9272-D547-BA8E-4089EBB9202C}"/>
                </a:ext>
              </a:extLst>
            </p:cNvPr>
            <p:cNvGrpSpPr/>
            <p:nvPr/>
          </p:nvGrpSpPr>
          <p:grpSpPr>
            <a:xfrm>
              <a:off x="621184" y="-220064"/>
              <a:ext cx="2545725" cy="2522774"/>
              <a:chOff x="310738" y="1359055"/>
              <a:chExt cx="2545725" cy="2522773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361C8DF3-059E-7A48-89BA-69033EE60B1E}"/>
                  </a:ext>
                </a:extLst>
              </p:cNvPr>
              <p:cNvGrpSpPr/>
              <p:nvPr/>
            </p:nvGrpSpPr>
            <p:grpSpPr>
              <a:xfrm>
                <a:off x="310738" y="1563172"/>
                <a:ext cx="2175047" cy="2145252"/>
                <a:chOff x="310738" y="1563172"/>
                <a:chExt cx="2175047" cy="2145252"/>
              </a:xfrm>
            </p:grpSpPr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C0B8DDF6-BCA0-524C-9FFC-3672EEB5B5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10738" y="1563172"/>
                  <a:ext cx="2175045" cy="2145252"/>
                </a:xfrm>
                <a:prstGeom prst="ellipse">
                  <a:avLst/>
                </a:prstGeom>
              </p:spPr>
            </p:pic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C0FAB52B-50C6-A045-A559-6998C9FCB8A5}"/>
                    </a:ext>
                  </a:extLst>
                </p:cNvPr>
                <p:cNvGrpSpPr/>
                <p:nvPr/>
              </p:nvGrpSpPr>
              <p:grpSpPr>
                <a:xfrm>
                  <a:off x="310739" y="1563172"/>
                  <a:ext cx="2175046" cy="2145251"/>
                  <a:chOff x="310739" y="1563172"/>
                  <a:chExt cx="2175046" cy="2145251"/>
                </a:xfrm>
              </p:grpSpPr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6FA0A004-BD58-D64F-8F2A-6E1E9A231F56}"/>
                      </a:ext>
                    </a:extLst>
                  </p:cNvPr>
                  <p:cNvCxnSpPr>
                    <a:stCxn id="25" idx="0"/>
                    <a:endCxn id="25" idx="4"/>
                  </p:cNvCxnSpPr>
                  <p:nvPr/>
                </p:nvCxnSpPr>
                <p:spPr>
                  <a:xfrm>
                    <a:off x="1398262" y="1563172"/>
                    <a:ext cx="0" cy="214525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9AAECB4E-B6B3-ED45-A53B-BACE75D34F89}"/>
                      </a:ext>
                    </a:extLst>
                  </p:cNvPr>
                  <p:cNvCxnSpPr>
                    <a:cxnSpLocks/>
                    <a:stCxn id="25" idx="2"/>
                    <a:endCxn id="25" idx="6"/>
                  </p:cNvCxnSpPr>
                  <p:nvPr/>
                </p:nvCxnSpPr>
                <p:spPr>
                  <a:xfrm>
                    <a:off x="310739" y="2635798"/>
                    <a:ext cx="2175046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4768DDE7-C11E-4B4B-A558-DEFA2A6527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8411" y="1896021"/>
                    <a:ext cx="1577365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3C57260E-B43C-2143-8EBD-C1F565DF2D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2355" y="3365133"/>
                    <a:ext cx="1577365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7997D3-BD2F-3440-A621-F9FE3EF45F8F}"/>
                  </a:ext>
                </a:extLst>
              </p:cNvPr>
              <p:cNvSpPr txBox="1"/>
              <p:nvPr/>
            </p:nvSpPr>
            <p:spPr>
              <a:xfrm>
                <a:off x="1273147" y="1359055"/>
                <a:ext cx="546420" cy="214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1533" dirty="0"/>
                  <a:t>90°N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B698B6-1EB8-A141-8E1C-9EE0AA362BCF}"/>
                  </a:ext>
                </a:extLst>
              </p:cNvPr>
              <p:cNvSpPr txBox="1"/>
              <p:nvPr/>
            </p:nvSpPr>
            <p:spPr>
              <a:xfrm>
                <a:off x="2140995" y="1742592"/>
                <a:ext cx="485539" cy="214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1533" dirty="0"/>
                  <a:t>45°N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ADEA6C-FACF-D44C-AA5E-38514B6F5C4B}"/>
                  </a:ext>
                </a:extLst>
              </p:cNvPr>
              <p:cNvSpPr txBox="1"/>
              <p:nvPr/>
            </p:nvSpPr>
            <p:spPr>
              <a:xfrm>
                <a:off x="2447948" y="2549748"/>
                <a:ext cx="408515" cy="214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1533" dirty="0"/>
                  <a:t>0°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03E62B-05FD-0B4E-BAD1-802A337BA0D9}"/>
                  </a:ext>
                </a:extLst>
              </p:cNvPr>
              <p:cNvSpPr txBox="1"/>
              <p:nvPr/>
            </p:nvSpPr>
            <p:spPr>
              <a:xfrm>
                <a:off x="2175476" y="3263136"/>
                <a:ext cx="521195" cy="214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1533" dirty="0"/>
                  <a:t>45°S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8D1E74-80BE-AB44-9508-ACB60C849156}"/>
                  </a:ext>
                </a:extLst>
              </p:cNvPr>
              <p:cNvSpPr txBox="1"/>
              <p:nvPr/>
            </p:nvSpPr>
            <p:spPr>
              <a:xfrm>
                <a:off x="1219758" y="3667654"/>
                <a:ext cx="521195" cy="214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1533" dirty="0"/>
                  <a:t>90°S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73143E7-0B2A-A94D-9595-36B6E7F79BAD}"/>
                </a:ext>
              </a:extLst>
            </p:cNvPr>
            <p:cNvSpPr txBox="1"/>
            <p:nvPr/>
          </p:nvSpPr>
          <p:spPr>
            <a:xfrm>
              <a:off x="2118664" y="-406899"/>
              <a:ext cx="3519652" cy="301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2400" b="1" dirty="0"/>
                <a:t>Latitude-dependent Waves</a:t>
              </a:r>
              <a:endParaRPr lang="en-VN" sz="2000" b="1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5C8F573-D2B2-FC47-8E8F-185C596DCE40}"/>
              </a:ext>
            </a:extLst>
          </p:cNvPr>
          <p:cNvGrpSpPr/>
          <p:nvPr/>
        </p:nvGrpSpPr>
        <p:grpSpPr>
          <a:xfrm>
            <a:off x="8026757" y="919277"/>
            <a:ext cx="4666105" cy="4829962"/>
            <a:chOff x="1192729" y="3536051"/>
            <a:chExt cx="3044681" cy="315160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346829B-8A94-6744-AF23-1A6400276174}"/>
                </a:ext>
              </a:extLst>
            </p:cNvPr>
            <p:cNvGrpSpPr/>
            <p:nvPr/>
          </p:nvGrpSpPr>
          <p:grpSpPr>
            <a:xfrm>
              <a:off x="1192729" y="3594136"/>
              <a:ext cx="3044681" cy="3093516"/>
              <a:chOff x="97706" y="3543545"/>
              <a:chExt cx="3044679" cy="3093516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3BA57E6B-0AB9-024F-B9D3-A32D8F71463A}"/>
                  </a:ext>
                </a:extLst>
              </p:cNvPr>
              <p:cNvGrpSpPr/>
              <p:nvPr/>
            </p:nvGrpSpPr>
            <p:grpSpPr>
              <a:xfrm>
                <a:off x="97706" y="3543545"/>
                <a:ext cx="3044679" cy="3093516"/>
                <a:chOff x="1388198" y="2208651"/>
                <a:chExt cx="5258521" cy="4902125"/>
              </a:xfrm>
            </p:grpSpPr>
            <p:pic>
              <p:nvPicPr>
                <p:cNvPr id="40" name="Picture 39">
                  <a:extLst>
                    <a:ext uri="{FF2B5EF4-FFF2-40B4-BE49-F238E27FC236}">
                      <a16:creationId xmlns:a16="http://schemas.microsoft.com/office/drawing/2014/main" id="{787270F4-DB4D-5840-97EE-AFE2D32015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75351" t="6297" r="1721" b="15025"/>
                <a:stretch/>
              </p:blipFill>
              <p:spPr>
                <a:xfrm>
                  <a:off x="1947200" y="2602207"/>
                  <a:ext cx="3537217" cy="4508569"/>
                </a:xfrm>
                <a:prstGeom prst="rect">
                  <a:avLst/>
                </a:prstGeom>
              </p:spPr>
            </p:pic>
            <p:pic>
              <p:nvPicPr>
                <p:cNvPr id="41" name="Picture 40">
                  <a:extLst>
                    <a:ext uri="{FF2B5EF4-FFF2-40B4-BE49-F238E27FC236}">
                      <a16:creationId xmlns:a16="http://schemas.microsoft.com/office/drawing/2014/main" id="{0DC44981-54DE-5B46-841E-67F6F46724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28339" t="84717" r="26943" b="2147"/>
                <a:stretch/>
              </p:blipFill>
              <p:spPr>
                <a:xfrm rot="16200000">
                  <a:off x="3974916" y="4152186"/>
                  <a:ext cx="4615338" cy="728268"/>
                </a:xfrm>
                <a:prstGeom prst="rect">
                  <a:avLst/>
                </a:prstGeom>
              </p:spPr>
            </p:pic>
            <p:pic>
              <p:nvPicPr>
                <p:cNvPr id="42" name="Picture 41">
                  <a:extLst>
                    <a:ext uri="{FF2B5EF4-FFF2-40B4-BE49-F238E27FC236}">
                      <a16:creationId xmlns:a16="http://schemas.microsoft.com/office/drawing/2014/main" id="{8AB432D7-413B-CE40-A8C1-2AE39D837E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1740" t="5973" r="93628" b="26167"/>
                <a:stretch/>
              </p:blipFill>
              <p:spPr>
                <a:xfrm>
                  <a:off x="1388198" y="2437499"/>
                  <a:ext cx="627836" cy="3541576"/>
                </a:xfrm>
                <a:prstGeom prst="rect">
                  <a:avLst/>
                </a:prstGeom>
              </p:spPr>
            </p:pic>
          </p:grp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E90777F-D390-C646-9ED2-3ED8767C2015}"/>
                  </a:ext>
                </a:extLst>
              </p:cNvPr>
              <p:cNvSpPr/>
              <p:nvPr/>
            </p:nvSpPr>
            <p:spPr>
              <a:xfrm>
                <a:off x="1076632" y="3799770"/>
                <a:ext cx="751637" cy="2442004"/>
              </a:xfrm>
              <a:prstGeom prst="rect">
                <a:avLst/>
              </a:prstGeom>
              <a:solidFill>
                <a:schemeClr val="bg1">
                  <a:lumMod val="75000"/>
                  <a:alpha val="27843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VN" sz="2759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351454F-A8EC-C249-92A6-F2AB484EC10A}"/>
                </a:ext>
              </a:extLst>
            </p:cNvPr>
            <p:cNvSpPr txBox="1"/>
            <p:nvPr/>
          </p:nvSpPr>
          <p:spPr>
            <a:xfrm>
              <a:off x="1780823" y="3536051"/>
              <a:ext cx="1630343" cy="2295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VN" sz="1686" dirty="0"/>
                <a:t>(Tan &amp; Showman 2021b)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32C26B3-CB8D-E749-B712-DB40F9B98F39}"/>
              </a:ext>
            </a:extLst>
          </p:cNvPr>
          <p:cNvSpPr txBox="1"/>
          <p:nvPr/>
        </p:nvSpPr>
        <p:spPr>
          <a:xfrm>
            <a:off x="3851666" y="2199072"/>
            <a:ext cx="3765679" cy="658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39" b="1" i="1" dirty="0"/>
              <a:t>k=</a:t>
            </a:r>
            <a:r>
              <a:rPr lang="en-VN" sz="1839" b="1" i="1" dirty="0"/>
              <a:t>2 waves: </a:t>
            </a:r>
            <a:r>
              <a:rPr lang="en-VN" sz="1839" dirty="0"/>
              <a:t>thinner, mid-latitude clouds?</a:t>
            </a:r>
          </a:p>
        </p:txBody>
      </p:sp>
    </p:spTree>
    <p:extLst>
      <p:ext uri="{BB962C8B-B14F-4D97-AF65-F5344CB8AC3E}">
        <p14:creationId xmlns:p14="http://schemas.microsoft.com/office/powerpoint/2010/main" val="3749487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3140</TotalTime>
  <Words>50</Words>
  <Application>Microsoft Macintosh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28</cp:revision>
  <dcterms:created xsi:type="dcterms:W3CDTF">2026-08-04T18:33:15Z</dcterms:created>
  <dcterms:modified xsi:type="dcterms:W3CDTF">2026-09-02T00:52:27Z</dcterms:modified>
</cp:coreProperties>
</file>