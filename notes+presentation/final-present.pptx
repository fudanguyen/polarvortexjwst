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405"/>
  </p:normalViewPr>
  <p:slideViewPr>
    <p:cSldViewPr snapToGrid="0" snapToObjects="1">
      <p:cViewPr varScale="1">
        <p:scale>
          <a:sx n="127" d="100"/>
          <a:sy n="127" d="100"/>
        </p:scale>
        <p:origin x="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5F8EE-7833-BE4F-A831-0F0EC62C8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C0FC6-9580-AB47-B756-3EBC841AC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F53D2-303B-BC40-B69D-F5A250B07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30B3E-8FDA-9B46-A1F7-150A9D9E51FB}" type="datetimeFigureOut">
              <a:rPr lang="en-VN" smtClean="0"/>
              <a:t>3/12/25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A0526-4EE1-694A-A03B-BD27F7E8A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E8221-3C74-864F-BF35-508528D77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9429B-B177-F141-8150-8C989495381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96665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F799-B6A9-E746-9D31-EF209D22E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7BB2E-FA30-124C-B42C-6038BF766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BF122-2FB2-C84B-8505-15340AAFB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30B3E-8FDA-9B46-A1F7-150A9D9E51FB}" type="datetimeFigureOut">
              <a:rPr lang="en-VN" smtClean="0"/>
              <a:t>3/12/25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E5161-4FF3-CB4E-B82D-9981EEB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848B2-B665-DF41-9068-6D86A626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9429B-B177-F141-8150-8C989495381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42201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6CD04-8795-9E46-888E-DC57DD17E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6F4EA-38CD-5249-A668-3DC6B5E77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72369-739D-F74D-A328-72122F52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30B3E-8FDA-9B46-A1F7-150A9D9E51FB}" type="datetimeFigureOut">
              <a:rPr lang="en-VN" smtClean="0"/>
              <a:t>3/12/25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68F21-3CCA-5F42-8934-13FC7899B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CA507-480D-A345-8836-13D45413A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9429B-B177-F141-8150-8C989495381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31308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8FB30-B3F7-A843-8A1A-C8BA0FA0B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83885-CA07-1846-AD7C-C5C7B94F7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F8CFC-BFD0-3A43-A760-D62A46D8D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043F0-4BBB-374F-82B1-BA7186596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30B3E-8FDA-9B46-A1F7-150A9D9E51FB}" type="datetimeFigureOut">
              <a:rPr lang="en-VN" smtClean="0"/>
              <a:t>3/12/25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4E850-DBF2-3D47-8131-4D41A145D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DA0A0-0A2D-D746-B04B-57F7EDE99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9429B-B177-F141-8150-8C989495381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7377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5E5B0-7BF2-304C-82FD-4E8A0D8D4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60BD7-BF8B-1A4D-AEF3-723A31352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E2DE5-55CA-574C-9B34-1E25CDBF9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16D1E6-29F0-4B4B-A21C-962A3B7A34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6FCF51-B82E-7648-893F-DC7F131D50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4D9186-DA0A-CC4C-9A6E-B5555B42B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30B3E-8FDA-9B46-A1F7-150A9D9E51FB}" type="datetimeFigureOut">
              <a:rPr lang="en-VN" smtClean="0"/>
              <a:t>3/12/25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306C8B-934A-294A-A34C-6B98BBB6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CD46E-10A6-2E4D-A498-F19DCCA3A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9429B-B177-F141-8150-8C989495381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13613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46A18-98DD-AB4F-B182-DB7CDB23E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7D156-1405-AB4F-AE4C-815C0DDB5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30B3E-8FDA-9B46-A1F7-150A9D9E51FB}" type="datetimeFigureOut">
              <a:rPr lang="en-VN" smtClean="0"/>
              <a:t>3/12/25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8EAADD-FB58-A842-91D5-EA193683B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3CF1C-F76F-2845-8493-AE92A9C59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9429B-B177-F141-8150-8C989495381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76346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A5CB36-C3AD-0F41-AA81-81E5D0B84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30B3E-8FDA-9B46-A1F7-150A9D9E51FB}" type="datetimeFigureOut">
              <a:rPr lang="en-VN" smtClean="0"/>
              <a:t>3/12/25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B9F2F-38CA-644D-A993-48330ACD6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C5C3E-04CF-0143-ABB4-D102AA6AD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9429B-B177-F141-8150-8C989495381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95731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8763E-3602-D049-B81F-410D020A7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ECBC7-54E7-B344-9ECD-6453FFDA0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60961-53CD-4E48-8579-ECCF92D64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CFFF69-B324-AF41-9073-87A0BF450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30B3E-8FDA-9B46-A1F7-150A9D9E51FB}" type="datetimeFigureOut">
              <a:rPr lang="en-VN" smtClean="0"/>
              <a:t>3/12/25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58735-40C7-3D44-8B1D-8DAF9B2F4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EB079-6630-7547-9C79-89867AA3E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9429B-B177-F141-8150-8C989495381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27156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CCFE-D7CC-2442-8DFD-C6FB2A0B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9D92F4-60A7-D443-9630-1F97C31C98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DF6AD-B5A8-E24B-B96F-5CE0F4080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3DC41-B407-C348-B3A0-407063DEC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30B3E-8FDA-9B46-A1F7-150A9D9E51FB}" type="datetimeFigureOut">
              <a:rPr lang="en-VN" smtClean="0"/>
              <a:t>3/12/25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251D8-9F1D-F14F-BA25-7812FD8C6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9F967-6F97-7A45-B378-7233F44B3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9429B-B177-F141-8150-8C989495381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7348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B20D0-565D-F64A-9102-88A741185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7BFDFB-6D24-0048-AEC7-9A01F1181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CBA2F-61CE-B746-A7A1-F4ACC3494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30B3E-8FDA-9B46-A1F7-150A9D9E51FB}" type="datetimeFigureOut">
              <a:rPr lang="en-VN" smtClean="0"/>
              <a:t>3/12/25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00DCA-D702-C148-8E53-AC8E16E22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7681D-F20A-754B-A764-27CC1304B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9429B-B177-F141-8150-8C989495381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88495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ED3FEA-C5DB-4245-9EA3-6117D9DB64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924E0-1570-AC48-9E7A-4AEC2B06C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290D6-C450-2944-993B-8012C6F89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30B3E-8FDA-9B46-A1F7-150A9D9E51FB}" type="datetimeFigureOut">
              <a:rPr lang="en-VN" smtClean="0"/>
              <a:t>3/12/25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5ED70-7029-AB47-8586-0E4F94BAA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B8CC4-A964-6C40-BBAA-B2773E40C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9429B-B177-F141-8150-8C989495381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33143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C75AFC-B454-EE44-A659-9905FD18B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26389-0068-AF42-9318-7AAC72C7A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931A2-F0B7-DA4A-B040-8F012A5375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30B3E-8FDA-9B46-A1F7-150A9D9E51FB}" type="datetimeFigureOut">
              <a:rPr lang="en-VN" smtClean="0"/>
              <a:t>3/12/25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5FE7C-18EE-6C47-9C30-A7D27238B0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14754-7B4C-234B-A3E4-B248F9052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9429B-B177-F141-8150-8C989495381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04894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7E91B6-D090-E647-8FEA-FF630FCFC9B0}"/>
              </a:ext>
            </a:extLst>
          </p:cNvPr>
          <p:cNvSpPr txBox="1"/>
          <p:nvPr/>
        </p:nvSpPr>
        <p:spPr>
          <a:xfrm>
            <a:off x="880905" y="4340888"/>
            <a:ext cx="1043018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VN" sz="2800" dirty="0"/>
              <a:t>Using fsed-range to simulate amplitude modulation</a:t>
            </a:r>
          </a:p>
          <a:p>
            <a:pPr marL="285750" indent="-285750">
              <a:buFontTx/>
              <a:buChar char="-"/>
            </a:pPr>
            <a:r>
              <a:rPr lang="en-VN" sz="2800" dirty="0"/>
              <a:t>Multi fsed clouds in the same column to simulate phase differences/phase shifts</a:t>
            </a:r>
          </a:p>
          <a:p>
            <a:pPr marL="285750" indent="-285750">
              <a:buFontTx/>
              <a:buChar char="-"/>
            </a:pPr>
            <a:r>
              <a:rPr lang="en-VN" sz="2800" dirty="0"/>
              <a:t>Status of spatial model</a:t>
            </a:r>
          </a:p>
          <a:p>
            <a:pPr marL="285750" indent="-285750">
              <a:buFontTx/>
              <a:buChar char="-"/>
            </a:pPr>
            <a:endParaRPr lang="en-V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2A2A23-1310-7049-A2DF-605CAEF81047}"/>
              </a:ext>
            </a:extLst>
          </p:cNvPr>
          <p:cNvSpPr txBox="1"/>
          <p:nvPr/>
        </p:nvSpPr>
        <p:spPr>
          <a:xfrm>
            <a:off x="653143" y="381837"/>
            <a:ext cx="90535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400" b="1" dirty="0"/>
              <a:t>PICASO / ATM. MODELING INDEP STUDY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3A3AC-3E96-7543-BA8E-010C7110A52E}"/>
              </a:ext>
            </a:extLst>
          </p:cNvPr>
          <p:cNvSpPr txBox="1"/>
          <p:nvPr/>
        </p:nvSpPr>
        <p:spPr>
          <a:xfrm>
            <a:off x="6471140" y="6402991"/>
            <a:ext cx="5828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Fuda Nguyen PTYS 900 w/ Dr. Marley &amp; Dr. Miles, 12/2025</a:t>
            </a:r>
          </a:p>
        </p:txBody>
      </p:sp>
    </p:spTree>
    <p:extLst>
      <p:ext uri="{BB962C8B-B14F-4D97-AF65-F5344CB8AC3E}">
        <p14:creationId xmlns:p14="http://schemas.microsoft.com/office/powerpoint/2010/main" val="3007102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8F4E79-12B0-994E-8C57-0DD2F6D7E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47" y="1198684"/>
            <a:ext cx="7400644" cy="56593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10636A-47D6-4043-AA9F-29649FD2ECC2}"/>
              </a:ext>
            </a:extLst>
          </p:cNvPr>
          <p:cNvSpPr txBox="1"/>
          <p:nvPr/>
        </p:nvSpPr>
        <p:spPr>
          <a:xfrm>
            <a:off x="8229599" y="1467059"/>
            <a:ext cx="29441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Use simple cloud setup: </a:t>
            </a:r>
            <a:br>
              <a:rPr lang="en-VN" dirty="0"/>
            </a:br>
            <a:r>
              <a:rPr lang="en-VN" b="1" dirty="0"/>
              <a:t>Fe, MgSiO3, Na2S</a:t>
            </a:r>
          </a:p>
          <a:p>
            <a:endParaRPr lang="en-VN" b="1" dirty="0"/>
          </a:p>
          <a:p>
            <a:r>
              <a:rPr lang="en-VN" dirty="0"/>
              <a:t>Temp:</a:t>
            </a:r>
          </a:p>
          <a:p>
            <a:r>
              <a:rPr lang="en-VN" b="1" dirty="0"/>
              <a:t>1200K, 950K</a:t>
            </a:r>
            <a:br>
              <a:rPr lang="en-VN" b="1" dirty="0"/>
            </a:br>
            <a:br>
              <a:rPr lang="en-VN" b="1" dirty="0"/>
            </a:br>
            <a:r>
              <a:rPr lang="en-VN" dirty="0"/>
              <a:t>log(g):</a:t>
            </a:r>
            <a:br>
              <a:rPr lang="en-VN" dirty="0"/>
            </a:br>
            <a:r>
              <a:rPr lang="en-VN" b="1" dirty="0"/>
              <a:t>4, 3.5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533BD4-0047-C04D-8CB4-AC4BA015EB7B}"/>
              </a:ext>
            </a:extLst>
          </p:cNvPr>
          <p:cNvSpPr txBox="1"/>
          <p:nvPr/>
        </p:nvSpPr>
        <p:spPr>
          <a:xfrm>
            <a:off x="1630345" y="393114"/>
            <a:ext cx="86491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VN" sz="2800" b="1" dirty="0"/>
              <a:t>Using fsed-range to simulate amplitude modulation</a:t>
            </a:r>
          </a:p>
        </p:txBody>
      </p:sp>
    </p:spTree>
    <p:extLst>
      <p:ext uri="{BB962C8B-B14F-4D97-AF65-F5344CB8AC3E}">
        <p14:creationId xmlns:p14="http://schemas.microsoft.com/office/powerpoint/2010/main" val="3437033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A1861D-F1EA-EC4F-92D1-DB96DF2C4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76" y="270233"/>
            <a:ext cx="8980095" cy="631753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84E1874-E9AE-EA40-8200-58FCB7E30395}"/>
              </a:ext>
            </a:extLst>
          </p:cNvPr>
          <p:cNvCxnSpPr/>
          <p:nvPr/>
        </p:nvCxnSpPr>
        <p:spPr>
          <a:xfrm>
            <a:off x="9304774" y="3215473"/>
            <a:ext cx="0" cy="2632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D525A46-13BA-6749-8DCE-6BDA87189702}"/>
              </a:ext>
            </a:extLst>
          </p:cNvPr>
          <p:cNvSpPr txBox="1"/>
          <p:nvPr/>
        </p:nvSpPr>
        <p:spPr>
          <a:xfrm>
            <a:off x="9396178" y="5201810"/>
            <a:ext cx="1225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  <a:r>
              <a:rPr lang="en-VN" dirty="0"/>
              <a:t>sed =</a:t>
            </a:r>
            <a:br>
              <a:rPr lang="en-VN" dirty="0"/>
            </a:br>
            <a:r>
              <a:rPr lang="en-VN" dirty="0"/>
              <a:t>1.0-1.18</a:t>
            </a:r>
          </a:p>
        </p:txBody>
      </p:sp>
    </p:spTree>
    <p:extLst>
      <p:ext uri="{BB962C8B-B14F-4D97-AF65-F5344CB8AC3E}">
        <p14:creationId xmlns:p14="http://schemas.microsoft.com/office/powerpoint/2010/main" val="1704188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B4E7C1-06B5-644B-9BF6-46C6D8E0D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228600"/>
            <a:ext cx="11010900" cy="6400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07333D4-B864-A24E-A7C8-F9EDDD2E630A}"/>
              </a:ext>
            </a:extLst>
          </p:cNvPr>
          <p:cNvSpPr/>
          <p:nvPr/>
        </p:nvSpPr>
        <p:spPr>
          <a:xfrm>
            <a:off x="2090058" y="3155181"/>
            <a:ext cx="120579" cy="28537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A06E3F-E152-DA40-BED5-6A933A89A109}"/>
              </a:ext>
            </a:extLst>
          </p:cNvPr>
          <p:cNvSpPr/>
          <p:nvPr/>
        </p:nvSpPr>
        <p:spPr>
          <a:xfrm>
            <a:off x="2684585" y="3155181"/>
            <a:ext cx="120579" cy="28537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B6670B-C80C-6F4B-BC99-992EDE57A1F9}"/>
              </a:ext>
            </a:extLst>
          </p:cNvPr>
          <p:cNvSpPr txBox="1"/>
          <p:nvPr/>
        </p:nvSpPr>
        <p:spPr>
          <a:xfrm>
            <a:off x="1316335" y="2713055"/>
            <a:ext cx="773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400" dirty="0"/>
              <a:t>1200K</a:t>
            </a:r>
          </a:p>
        </p:txBody>
      </p:sp>
    </p:spTree>
    <p:extLst>
      <p:ext uri="{BB962C8B-B14F-4D97-AF65-F5344CB8AC3E}">
        <p14:creationId xmlns:p14="http://schemas.microsoft.com/office/powerpoint/2010/main" val="2565819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BA232E-C5AC-1141-B2AB-86CD5932C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27" y="35053"/>
            <a:ext cx="9604968" cy="68229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9FF17D-9E21-2B4F-BD2E-3C889FE22ABB}"/>
              </a:ext>
            </a:extLst>
          </p:cNvPr>
          <p:cNvSpPr txBox="1"/>
          <p:nvPr/>
        </p:nvSpPr>
        <p:spPr>
          <a:xfrm>
            <a:off x="1637882" y="251209"/>
            <a:ext cx="773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400" dirty="0"/>
              <a:t>1200K</a:t>
            </a:r>
          </a:p>
        </p:txBody>
      </p:sp>
    </p:spTree>
    <p:extLst>
      <p:ext uri="{BB962C8B-B14F-4D97-AF65-F5344CB8AC3E}">
        <p14:creationId xmlns:p14="http://schemas.microsoft.com/office/powerpoint/2010/main" val="3207626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341D04-269F-B74F-9F71-0E3CAEBEE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73" y="145265"/>
            <a:ext cx="9495691" cy="67127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7197AE-D2EF-A44C-979D-62E930580489}"/>
              </a:ext>
            </a:extLst>
          </p:cNvPr>
          <p:cNvSpPr txBox="1"/>
          <p:nvPr/>
        </p:nvSpPr>
        <p:spPr>
          <a:xfrm>
            <a:off x="1838849" y="391886"/>
            <a:ext cx="773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400" dirty="0"/>
              <a:t>1200K</a:t>
            </a:r>
          </a:p>
        </p:txBody>
      </p:sp>
    </p:spTree>
    <p:extLst>
      <p:ext uri="{BB962C8B-B14F-4D97-AF65-F5344CB8AC3E}">
        <p14:creationId xmlns:p14="http://schemas.microsoft.com/office/powerpoint/2010/main" val="3364778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FD2B45-1D1B-4C4F-B0B4-60C529F80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526" y="0"/>
            <a:ext cx="7805854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6D9BFB9-EE8D-414D-B810-7009C3282B17}"/>
              </a:ext>
            </a:extLst>
          </p:cNvPr>
          <p:cNvCxnSpPr>
            <a:cxnSpLocks/>
          </p:cNvCxnSpPr>
          <p:nvPr/>
        </p:nvCxnSpPr>
        <p:spPr>
          <a:xfrm>
            <a:off x="3798277" y="914400"/>
            <a:ext cx="31049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2A2DA71-0546-8144-9AD4-4038D595E598}"/>
              </a:ext>
            </a:extLst>
          </p:cNvPr>
          <p:cNvCxnSpPr>
            <a:cxnSpLocks/>
          </p:cNvCxnSpPr>
          <p:nvPr/>
        </p:nvCxnSpPr>
        <p:spPr>
          <a:xfrm>
            <a:off x="3798276" y="3429000"/>
            <a:ext cx="31049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B089B1-2175-7B4F-A6C6-C13156BE84D0}"/>
              </a:ext>
            </a:extLst>
          </p:cNvPr>
          <p:cNvCxnSpPr>
            <a:cxnSpLocks/>
          </p:cNvCxnSpPr>
          <p:nvPr/>
        </p:nvCxnSpPr>
        <p:spPr>
          <a:xfrm>
            <a:off x="3798276" y="5781989"/>
            <a:ext cx="31049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5522538-E3E1-6546-98AA-5FD4283C403D}"/>
              </a:ext>
            </a:extLst>
          </p:cNvPr>
          <p:cNvSpPr txBox="1"/>
          <p:nvPr/>
        </p:nvSpPr>
        <p:spPr>
          <a:xfrm>
            <a:off x="1336431" y="0"/>
            <a:ext cx="1356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Clouds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90C9A3-4299-B24E-A415-CD7065545CFD}"/>
              </a:ext>
            </a:extLst>
          </p:cNvPr>
          <p:cNvSpPr txBox="1"/>
          <p:nvPr/>
        </p:nvSpPr>
        <p:spPr>
          <a:xfrm>
            <a:off x="3870290" y="0"/>
            <a:ext cx="1356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kzz</a:t>
            </a:r>
          </a:p>
        </p:txBody>
      </p:sp>
    </p:spTree>
    <p:extLst>
      <p:ext uri="{BB962C8B-B14F-4D97-AF65-F5344CB8AC3E}">
        <p14:creationId xmlns:p14="http://schemas.microsoft.com/office/powerpoint/2010/main" val="364558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43605F-5903-C845-B8A7-3594AB1A162D}"/>
              </a:ext>
            </a:extLst>
          </p:cNvPr>
          <p:cNvSpPr txBox="1"/>
          <p:nvPr/>
        </p:nvSpPr>
        <p:spPr>
          <a:xfrm>
            <a:off x="303963" y="335003"/>
            <a:ext cx="93826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VN" sz="2400" b="1" dirty="0"/>
              <a:t>Multi fsed clouds in the same column to simulate phase differences/phase shifts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D33A05-2265-F24E-B787-0D0FDCEBE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84" y="1166000"/>
            <a:ext cx="7479080" cy="56563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FA53FF-776D-5747-A696-062BF82685A9}"/>
              </a:ext>
            </a:extLst>
          </p:cNvPr>
          <p:cNvSpPr txBox="1"/>
          <p:nvPr/>
        </p:nvSpPr>
        <p:spPr>
          <a:xfrm>
            <a:off x="1213608" y="2233956"/>
            <a:ext cx="32266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600" b="1" dirty="0"/>
              <a:t>Yang+2016</a:t>
            </a:r>
          </a:p>
        </p:txBody>
      </p:sp>
    </p:spTree>
    <p:extLst>
      <p:ext uri="{BB962C8B-B14F-4D97-AF65-F5344CB8AC3E}">
        <p14:creationId xmlns:p14="http://schemas.microsoft.com/office/powerpoint/2010/main" val="1221847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58A391-0417-4C43-8DA7-D935B13414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0" r="46528" b="52122"/>
          <a:stretch/>
        </p:blipFill>
        <p:spPr>
          <a:xfrm>
            <a:off x="1150958" y="997646"/>
            <a:ext cx="4566513" cy="28939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8722AA-3111-034E-A310-66FB03EF60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25" t="48739" r="43803" b="2655"/>
          <a:stretch/>
        </p:blipFill>
        <p:spPr>
          <a:xfrm>
            <a:off x="6176387" y="1030376"/>
            <a:ext cx="4566556" cy="30144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6DA36E-6BEA-4B47-96AC-7F1D6CAB87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639" r="772" b="51394"/>
          <a:stretch/>
        </p:blipFill>
        <p:spPr>
          <a:xfrm>
            <a:off x="1698170" y="3891572"/>
            <a:ext cx="3807904" cy="2966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D0516D-FAE5-5E42-B837-986A48BB64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952" t="47260" r="736" b="4134"/>
          <a:stretch/>
        </p:blipFill>
        <p:spPr>
          <a:xfrm>
            <a:off x="6652937" y="3891572"/>
            <a:ext cx="3613456" cy="29664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1F6E7A-FF07-944E-B2DC-DA80407F6D81}"/>
              </a:ext>
            </a:extLst>
          </p:cNvPr>
          <p:cNvSpPr txBox="1"/>
          <p:nvPr/>
        </p:nvSpPr>
        <p:spPr>
          <a:xfrm>
            <a:off x="4432251" y="411982"/>
            <a:ext cx="4441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000" b="1" dirty="0"/>
              <a:t>PSO-318 (unpublished JWST 8846) </a:t>
            </a:r>
          </a:p>
        </p:txBody>
      </p:sp>
    </p:spTree>
    <p:extLst>
      <p:ext uri="{BB962C8B-B14F-4D97-AF65-F5344CB8AC3E}">
        <p14:creationId xmlns:p14="http://schemas.microsoft.com/office/powerpoint/2010/main" val="2942244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70B0CC-F646-3E44-A481-C0BDB7898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22" y="424175"/>
            <a:ext cx="11602983" cy="58842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A25936-23D3-4147-A665-3FCA09B64032}"/>
              </a:ext>
            </a:extLst>
          </p:cNvPr>
          <p:cNvSpPr txBox="1"/>
          <p:nvPr/>
        </p:nvSpPr>
        <p:spPr>
          <a:xfrm>
            <a:off x="170822" y="5657222"/>
            <a:ext cx="773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400" dirty="0"/>
              <a:t>1200K</a:t>
            </a:r>
          </a:p>
        </p:txBody>
      </p:sp>
    </p:spTree>
    <p:extLst>
      <p:ext uri="{BB962C8B-B14F-4D97-AF65-F5344CB8AC3E}">
        <p14:creationId xmlns:p14="http://schemas.microsoft.com/office/powerpoint/2010/main" val="3488787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51D7221-71DE-AB46-AF26-DE1246369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60" y="176614"/>
            <a:ext cx="10302318" cy="54123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D99711-A5BC-F141-90D0-2471685131E5}"/>
              </a:ext>
            </a:extLst>
          </p:cNvPr>
          <p:cNvSpPr txBox="1"/>
          <p:nvPr/>
        </p:nvSpPr>
        <p:spPr>
          <a:xfrm>
            <a:off x="582804" y="3612328"/>
            <a:ext cx="1818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b="1" dirty="0"/>
              <a:t>Per-species fsed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8FACDE-1887-A749-8325-EA2169FBB094}"/>
              </a:ext>
            </a:extLst>
          </p:cNvPr>
          <p:cNvSpPr/>
          <p:nvPr/>
        </p:nvSpPr>
        <p:spPr>
          <a:xfrm>
            <a:off x="582804" y="3989196"/>
            <a:ext cx="2120203" cy="9545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AF4129B-DE3D-6F41-B058-F638677CD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0967" y="889126"/>
            <a:ext cx="2986121" cy="199367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3416644-E857-194C-89BE-BDDB4D1A7CDE}"/>
              </a:ext>
            </a:extLst>
          </p:cNvPr>
          <p:cNvSpPr/>
          <p:nvPr/>
        </p:nvSpPr>
        <p:spPr>
          <a:xfrm>
            <a:off x="8772211" y="3255666"/>
            <a:ext cx="622998" cy="9947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BEBBF6-3598-7B44-B0C3-F48CC6093898}"/>
              </a:ext>
            </a:extLst>
          </p:cNvPr>
          <p:cNvCxnSpPr/>
          <p:nvPr/>
        </p:nvCxnSpPr>
        <p:spPr>
          <a:xfrm flipV="1">
            <a:off x="9204290" y="2793442"/>
            <a:ext cx="331596" cy="462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45ED934-1954-5F41-8045-EAB80EB0A280}"/>
              </a:ext>
            </a:extLst>
          </p:cNvPr>
          <p:cNvCxnSpPr>
            <a:cxnSpLocks/>
          </p:cNvCxnSpPr>
          <p:nvPr/>
        </p:nvCxnSpPr>
        <p:spPr>
          <a:xfrm flipH="1" flipV="1">
            <a:off x="5586884" y="2994409"/>
            <a:ext cx="200967" cy="2692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FF39F44-75EA-C447-8B7B-19698F10EFB1}"/>
              </a:ext>
            </a:extLst>
          </p:cNvPr>
          <p:cNvCxnSpPr>
            <a:cxnSpLocks/>
          </p:cNvCxnSpPr>
          <p:nvPr/>
        </p:nvCxnSpPr>
        <p:spPr>
          <a:xfrm flipV="1">
            <a:off x="6008914" y="4141597"/>
            <a:ext cx="1312791" cy="1545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8087D78-9686-1842-89A6-A423BEEEA598}"/>
              </a:ext>
            </a:extLst>
          </p:cNvPr>
          <p:cNvSpPr txBox="1"/>
          <p:nvPr/>
        </p:nvSpPr>
        <p:spPr>
          <a:xfrm>
            <a:off x="5208589" y="5899366"/>
            <a:ext cx="3563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b="1" dirty="0"/>
              <a:t>(Small) Opposite trends?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BFBC07-4E08-904A-856F-93736FB9BCE6}"/>
              </a:ext>
            </a:extLst>
          </p:cNvPr>
          <p:cNvSpPr txBox="1"/>
          <p:nvPr/>
        </p:nvSpPr>
        <p:spPr>
          <a:xfrm>
            <a:off x="582804" y="5205046"/>
            <a:ext cx="26226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600" dirty="0"/>
              <a:t>MgSiO3 and Na2S: Anti-correlated fsed</a:t>
            </a:r>
          </a:p>
          <a:p>
            <a:endParaRPr lang="en-VN" sz="1600" dirty="0"/>
          </a:p>
          <a:p>
            <a:r>
              <a:rPr lang="en-VN" sz="1600" dirty="0"/>
              <a:t>(when lower deck has thin cloud, upper deck has thick clouds)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6DBBA2-7752-9248-9D92-EFE9AC2D139B}"/>
              </a:ext>
            </a:extLst>
          </p:cNvPr>
          <p:cNvSpPr txBox="1"/>
          <p:nvPr/>
        </p:nvSpPr>
        <p:spPr>
          <a:xfrm>
            <a:off x="582804" y="3304551"/>
            <a:ext cx="773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400" dirty="0"/>
              <a:t>1200K</a:t>
            </a:r>
          </a:p>
        </p:txBody>
      </p:sp>
    </p:spTree>
    <p:extLst>
      <p:ext uri="{BB962C8B-B14F-4D97-AF65-F5344CB8AC3E}">
        <p14:creationId xmlns:p14="http://schemas.microsoft.com/office/powerpoint/2010/main" val="1225435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2A763D-E0F4-F94B-A0A9-A2F0BFD09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10" y="565847"/>
            <a:ext cx="10920979" cy="59756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AF0EA7-473A-1545-A0B3-A28D74604F6B}"/>
              </a:ext>
            </a:extLst>
          </p:cNvPr>
          <p:cNvSpPr txBox="1"/>
          <p:nvPr/>
        </p:nvSpPr>
        <p:spPr>
          <a:xfrm>
            <a:off x="351692" y="723482"/>
            <a:ext cx="2220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dirty="0"/>
              <a:t>Changing C/O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1CDE80-7BDA-3046-B921-565C8A68CBDD}"/>
              </a:ext>
            </a:extLst>
          </p:cNvPr>
          <p:cNvSpPr txBox="1"/>
          <p:nvPr/>
        </p:nvSpPr>
        <p:spPr>
          <a:xfrm>
            <a:off x="351692" y="6329780"/>
            <a:ext cx="5064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b="1" dirty="0"/>
              <a:t>Unrealistic because same latitudinal bands?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0BC557-C2BA-634C-B42D-AE2128A3AD43}"/>
              </a:ext>
            </a:extLst>
          </p:cNvPr>
          <p:cNvSpPr txBox="1"/>
          <p:nvPr/>
        </p:nvSpPr>
        <p:spPr>
          <a:xfrm>
            <a:off x="502418" y="4039438"/>
            <a:ext cx="773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400" dirty="0"/>
              <a:t>1200K</a:t>
            </a:r>
          </a:p>
        </p:txBody>
      </p:sp>
    </p:spTree>
    <p:extLst>
      <p:ext uri="{BB962C8B-B14F-4D97-AF65-F5344CB8AC3E}">
        <p14:creationId xmlns:p14="http://schemas.microsoft.com/office/powerpoint/2010/main" val="1848082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0C11B5-838C-FB46-9593-6849A1398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69" y="662074"/>
            <a:ext cx="11355462" cy="5533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09F982-4ADB-9143-8CA8-5BDB05E88FE6}"/>
              </a:ext>
            </a:extLst>
          </p:cNvPr>
          <p:cNvSpPr txBox="1"/>
          <p:nvPr/>
        </p:nvSpPr>
        <p:spPr>
          <a:xfrm>
            <a:off x="351692" y="723482"/>
            <a:ext cx="2220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dirty="0"/>
              <a:t>Changing Kzz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F36032-A8E4-274B-9F22-785DDF1A2FED}"/>
              </a:ext>
            </a:extLst>
          </p:cNvPr>
          <p:cNvSpPr txBox="1"/>
          <p:nvPr/>
        </p:nvSpPr>
        <p:spPr>
          <a:xfrm>
            <a:off x="351692" y="6329780"/>
            <a:ext cx="5064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b="1" dirty="0"/>
              <a:t>Unrealistic because same latitudinal bands?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D28166-3BF4-EC44-98DE-C468E1E70F21}"/>
              </a:ext>
            </a:extLst>
          </p:cNvPr>
          <p:cNvSpPr txBox="1"/>
          <p:nvPr/>
        </p:nvSpPr>
        <p:spPr>
          <a:xfrm>
            <a:off x="341643" y="3938954"/>
            <a:ext cx="773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400" dirty="0"/>
              <a:t>1200K</a:t>
            </a:r>
          </a:p>
        </p:txBody>
      </p:sp>
    </p:spTree>
    <p:extLst>
      <p:ext uri="{BB962C8B-B14F-4D97-AF65-F5344CB8AC3E}">
        <p14:creationId xmlns:p14="http://schemas.microsoft.com/office/powerpoint/2010/main" val="4209682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FDA0C4-6585-D646-ACE6-0D0C48F32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185" y="125914"/>
            <a:ext cx="10164783" cy="67320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C8D793-3362-C24F-A068-43DD7D37E9CA}"/>
              </a:ext>
            </a:extLst>
          </p:cNvPr>
          <p:cNvSpPr txBox="1"/>
          <p:nvPr/>
        </p:nvSpPr>
        <p:spPr>
          <a:xfrm>
            <a:off x="364253" y="222292"/>
            <a:ext cx="60943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VN" sz="2400" b="1" dirty="0"/>
              <a:t>Status of spatial model</a:t>
            </a:r>
          </a:p>
        </p:txBody>
      </p:sp>
    </p:spTree>
    <p:extLst>
      <p:ext uri="{BB962C8B-B14F-4D97-AF65-F5344CB8AC3E}">
        <p14:creationId xmlns:p14="http://schemas.microsoft.com/office/powerpoint/2010/main" val="2289924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BCA8D8-937A-D949-B91D-7D4B242CD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56" y="78263"/>
            <a:ext cx="5599862" cy="6701474"/>
          </a:xfrm>
          <a:prstGeom prst="rect">
            <a:avLst/>
          </a:prstGeom>
        </p:spPr>
      </p:pic>
      <p:pic>
        <p:nvPicPr>
          <p:cNvPr id="6" name="test_polar_v0_dynamic_inclin=10" descr="test_polar_v0_dynamic_inclin=10">
            <a:hlinkClick r:id="" action="ppaction://media"/>
            <a:hlinkHover r:id="" action="ppaction://ole?verb=0"/>
            <a:extLst>
              <a:ext uri="{FF2B5EF4-FFF2-40B4-BE49-F238E27FC236}">
                <a16:creationId xmlns:a16="http://schemas.microsoft.com/office/drawing/2014/main" id="{D60A3C32-6C94-3C49-82D7-964CCFCE369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867859" y="1761636"/>
            <a:ext cx="3112879" cy="311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76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est_polar_v0_dynamic_inclin=60" descr="test_polar_v0_dynamic_inclin=60">
            <a:hlinkClick r:id="" action="ppaction://media"/>
            <a:extLst>
              <a:ext uri="{FF2B5EF4-FFF2-40B4-BE49-F238E27FC236}">
                <a16:creationId xmlns:a16="http://schemas.microsoft.com/office/drawing/2014/main" id="{071175FF-9620-EF4A-A9A9-EBB12FFBB23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867860" y="1902314"/>
            <a:ext cx="3318694" cy="33186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789CC2-DE5C-7646-97AC-1298E2D909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063" y="59431"/>
            <a:ext cx="5600561" cy="673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60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C7254-5A2C-9B41-8028-1D0D63DC8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VN" sz="3600" dirty="0"/>
              <a:t>In report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2369C-90CA-8148-9C71-D43AFE5A9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3775"/>
            <a:ext cx="10515600" cy="2143474"/>
          </a:xfrm>
        </p:spPr>
        <p:txBody>
          <a:bodyPr/>
          <a:lstStyle/>
          <a:p>
            <a:r>
              <a:rPr lang="en-VN" dirty="0"/>
              <a:t>Description of PICASO, model building, recreation on rotational modulation amplitude with cloud thickness difference</a:t>
            </a:r>
          </a:p>
          <a:p>
            <a:r>
              <a:rPr lang="en-VN" dirty="0"/>
              <a:t>Experiment on multifsed clouds</a:t>
            </a:r>
          </a:p>
          <a:p>
            <a:r>
              <a:rPr lang="en-VN" dirty="0"/>
              <a:t>Spatial model integration</a:t>
            </a:r>
          </a:p>
          <a:p>
            <a:endParaRPr lang="en-VN" dirty="0"/>
          </a:p>
          <a:p>
            <a:endParaRPr lang="en-V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0ABBDD-78D3-F34C-9CED-FA87518D5559}"/>
              </a:ext>
            </a:extLst>
          </p:cNvPr>
          <p:cNvSpPr txBox="1">
            <a:spLocks/>
          </p:cNvSpPr>
          <p:nvPr/>
        </p:nvSpPr>
        <p:spPr>
          <a:xfrm>
            <a:off x="838200" y="375309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VN" sz="3600" dirty="0"/>
              <a:t>Upcoming steps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251ACFA-8A7C-FA4E-8F90-D1CB692F12A0}"/>
              </a:ext>
            </a:extLst>
          </p:cNvPr>
          <p:cNvSpPr txBox="1">
            <a:spLocks/>
          </p:cNvSpPr>
          <p:nvPr/>
        </p:nvSpPr>
        <p:spPr>
          <a:xfrm>
            <a:off x="838200" y="4824832"/>
            <a:ext cx="10515600" cy="1555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VN" sz="2400" dirty="0"/>
              <a:t>More accurate Diamondback model profile</a:t>
            </a:r>
          </a:p>
          <a:p>
            <a:r>
              <a:rPr lang="en-VN" sz="2400" dirty="0"/>
              <a:t>Test with lower Teff</a:t>
            </a:r>
          </a:p>
          <a:p>
            <a:r>
              <a:rPr lang="en-VN" sz="2400" dirty="0"/>
              <a:t>Integrate pole-to-equator kzz difference.</a:t>
            </a:r>
          </a:p>
        </p:txBody>
      </p:sp>
    </p:spTree>
    <p:extLst>
      <p:ext uri="{BB962C8B-B14F-4D97-AF65-F5344CB8AC3E}">
        <p14:creationId xmlns:p14="http://schemas.microsoft.com/office/powerpoint/2010/main" val="1781912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207</Words>
  <Application>Microsoft Macintosh PowerPoint</Application>
  <PresentationFormat>Widescreen</PresentationFormat>
  <Paragraphs>41</Paragraphs>
  <Slides>17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report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</cp:revision>
  <dcterms:created xsi:type="dcterms:W3CDTF">2025-12-03T20:44:37Z</dcterms:created>
  <dcterms:modified xsi:type="dcterms:W3CDTF">2025-12-03T21:27:00Z</dcterms:modified>
</cp:coreProperties>
</file>